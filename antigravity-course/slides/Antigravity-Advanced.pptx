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2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ເປີດຫຼັກສູດ" id="{95f58050-d465-f62d-1967-88f9528cb475}">
          <p14:sldIdLst>
            <p14:sldId id="256"/>
            <p14:sldId id="257"/>
            <p14:sldId id="258"/>
            <p14:sldId id="259"/>
          </p14:sldIdLst>
        </p14:section>
        <p14:section name="ອາທິດທີ 1 · ວັນເສົາ" id="{7cd13dd3-19e4-e5f7-ad38-41e25faafaa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ອາທິດທີ 1 · ວັນອາທິດ" id="{f32dffe8-13e9-135f-a893-0ea92774e3d5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ອາທິດທີ 2 · ວັນເສົາ" id="{1941c689-ac04-7548-60bf-70cbb6676c9a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ອາທິດທີ 2 · ວັນອາທິດ" id="{da485739-940f-7d4c-47b7-09bff66840cd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A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2A2F"/>
                </a:solidFill>
                <a:latin typeface="+mn-lt"/>
              </a:rPr>
              <a:t>ຈຳນວນເຄລມຕາມປະເພດ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ເຄລມ</c:v>
                </c:pt>
              </c:strCache>
            </c:strRef>
          </c:tx>
          <c:spPr>
            <a:solidFill>
              <a:srgbClr val="1F55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E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ລົດ</c:v>
                  </c:pt>
                  <c:pt idx="1">
                    <c:v>ສຸຂະພາບ</c:v>
                  </c:pt>
                  <c:pt idx="2">
                    <c:v>ອຸປະຕິເຫດ</c:v>
                  </c:pt>
                  <c:pt idx="3">
                    <c:v>ຊັບສິນ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E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C62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ຕ້ອນຮັບ ແລະ ໃຫ້ຜູ້ຮຽນແນະນຳຕົວ: ຊື່, ວຽກ ແລະ ເຄີຍໃຊ້ Antigravity ເຮັດຫຍັງມາແລ້ວ. ກວດວ່າໃຜຍັງບໍ່ໄດ້ຮຽນ Basic ເພື່ອຈັດໃຫ້ນັ່ງໃກ້ຜູ້ທີ່ໃຊ້ເປັນແລ້ວ.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ອະທິບາຍວ່າແຕ່ລະມື້ສ້າງລະບົບໃໝ່ 1-2 ລະບົບ ແລະ ຕໍ່ຍອດຈາກມື້ກ່ອນ. ລະຫວ່າງ 2 ອາທິດ ມີການບ້ານກຽມຂໍ້ມູນ Final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ທຸກລະບົບເປັນຕົ້ນແບບທີ່ເອົາໄປປັບໃຊ້ໄດ້. Final Project ແມ່ນສ່ວນທີ່ມີຄ່າທີ່ສຸດ ເພາະມາຈາກວຽກຈິງຂອງຜູ້ຮຽນ.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ຖາມຜູ້ຮຽນໃຫ້ອະທິບາຍແຕ່ລະກ່ອງ ແທນການອ່ານໃຫ້ຟັງ. ຖ້າມີຜູ້ທີ່ບໍ່ໄດ້ຮຽນ Basic ໃຫ້ໃຊ້ເວລາກັບສູດ 5 ຂໍ້ ຫຼາຍຂຶ້ນ.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ເປົ້າໝາຍມື້ນີ້: Agent ເຮັດວຽກຕາມມາດຕະຖານຂອງທີມ ໂດຍບໍ່ຕ້ອງບອກຊ້ຳທຸກຄັ້ງ.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ແຈກໃບງານ ຫຼື ໃຫ້ຂຽນໃນ Excel. ໃຫ້ເວລາ 8 ນາທີ. ຍ່າງຖາມແຕ່ລະຄົນ ແລະ ຊ່ວຍເລືອກວຽກທີ່ມີກົດຊັດເຈນ ແລະ ຄວາມສ່ຽງຕ່ຳ.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ສາທິດບ່ອນສ້າງ Rules ໃນ Antigravity ທັງ 2 ລະດັບ. ຊື່ເມນູອາດປ່ຽນຕາມເວີຊັນ ກວດກ່ອນສອນ. ອະທິບາຍວ່າ Rules ຄືຄູ່ມືພະນັກງານໃໝ່ ທີ່ Agent ອ່ານກ່ອນເລີ່ມວຽກທຸກຄັ້ງ.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ໃຫ້ຜູ້ຮຽນສ້າງ Rules ຈິງ ແລ້ວທົດສອບ: ສັ່ງ "ສະຫຼຸບຍອດເຄລມຕາມເດືອນ" ໂດຍບໍ່ບອກຮູບແບບ. ຖ້າ Agent ໃຊ້ ວວ/ດດ/ປປປປ ແລະ ເງິນກີບເອງ ແປວ່າ Rules ເຮັດວຽກ.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ໃຫ້ຜູ້ຮຽນແລກປ່ຽນ Rules ກັບໝູ່ ແລະ ຊອກ Rule ທີ່ກວດບໍ່ໄດ້. ປັບໃຫ້ຊັດເຈນ.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 ໃນ Antigravity ເກັບເປັນໂຟນເດີທີ່ມີໄຟລ໌ SKILL.md ແລະ ໄຟລ໌ປະກອບ. ສາທິດການສ້າງ Skill ນີ້ໃນໂຟນເດີວຽກ. ກວດວິທີສ້າງໃນເວີຊັນປັດຈຸບັນກ່ອນສອນ.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ການແກ້ໃນແຜນ ຖືກກວ່າການແກ້ຫຼັງ Agent ເຮັດແລ້ວ. ສາທິດການເລືອກຂໍ້ຄວາມໃນແຜນ ແລ້ວ Comment.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ສະແດງພາບລວມກ່ອນລົງມື. ໄຟລ໌ Export ສົມມຸດມີ 2 ອາທິດ ເພື່ອໃຫ້ທຽບກັນໄດ້.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ໃຫ້ເວລາ 25 ນາທີ. ສົມທຽບຄວາມຍາວຂອງຄຳສັ່ງນີ້ ກັບຄຳສັ່ງໃນ Basic. ຖ້າ Agent ບໍ່ເອີ້ນໃຊ້ Skill ໃຫ້ກວດວ່າຊື່ ແລະ ຄຳອະທິບາຍຂອງ Skill ຊັດເຈນບໍ.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ເພີ່ມໂຄງສ້າງ 4 ສ່ວນນີ້ເຂົ້າໃນ Skill ແລ້ວແລ່ນໃໝ່. ສະແດງວ່າການປັບ Skill ເທື່ອດຽວ ເຮັດໃຫ້ລາຍງານທຸກອາທິດດີຂຶ້ນ.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ໃຫ້ຜູ້ຮຽນບັນທຶກ Rules ແລະ Skill ໄວ້ໃນໂຟນເດີວຽກ ເພື່ອໃຊ້ຕໍ່ມື້ອື່ນ.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ມື້ນີ້ Agent ອ່ານເອກະສານແທນຕາເຮົາ. ເນັ້ນວ່າການອ່ານຂອງ AI ຕ້ອງກວດທຸກຄັ້ງ ໂດຍສະເພາະຕົວເລກ.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ສະແດງຕົວຢ່າງທັງ 3 ແບບ ຈາກໂຟນເດີເຄລມສົມມຸດ. ໃຫ້ຜູ້ຮຽນລອງຖ່າຍຮູບໃບບິນສົມມຸດດ້ວຍມືຖື ແລ້ວໂອນເຂົ້າຄອມ.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ສາທິດໂດຍລາກໄຟລ໌ໃບບິນເຂົ້າແຖບ Agent ແລ້ວສັ່ງ "ສະກັດຂໍ້ມູນໃບບິນນີ້ເປັນຕາຕະລາງ". ສະແດງການກວດຜົນລວມ.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ປະໂຫຍກໃນກ່ອງດຳ ຄວນເພີ່ມເຂົ້າ Rules ຂອງທີມ. ສາທິດກັບຮູບມົວ 1 ຮູບ ເພື່ອໃຫ້ເຫັນວ່າ Agent ໝາຍ "ບໍ່ແນ່ໃຈ" ແທ້.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ລາຍການນີ້ເປັນຕົວຢ່າງ. ໃຫ້ຜູ້ຮຽນທີ່ເຮັດວຽກເຄລມ ແກ້ໃຫ້ກົງກັບບໍລິສັດຂອງຕົນ. ບັນທຶກແຕ່ລະປະເພດເປັນໄຟລ໌ໃນ checklists/ ເພື່ອໃຫ້ Agent ອ່ານ.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ລະບົບນີ້ລວມທຸກຢ່າງທີ່ຮຽນມາ: ອ່ານເອກະສານ, Checklist, ຈົດໝາຍຈາກແມ່ແບບ. ໂຟນເດີເຄລມສົມມຸດມີ 5 ເຄລມ ບາງເຄລມເອກະສານບໍ່ຄົບໂດຍເຈດຕະນາ.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ຕົກລົງຮູບແບບຊື່ໄຟລ໌ຮ່ວມກັນ ແລ້ວເພີ່ມເຂົ້າ Rules. ເມື່ອທຸກຄົນໃນທີມໃຊ້ຮູບແບບດຽວກັນ ການຊອກເອກະສານຈະໄວຂຶ້ນຫຼາຍ.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ໃຫ້ເວລາ 40 ນາທີ. ຫຼັງຈາກ 1 ເຄລມສຳເລັດ ໃຫ້ສອນການປ່ຽນຄຳສັ່ງນີ້ເປັນ Skill ທີ່ຮັບເລກເຄລມໃດກໍໄດ້. ກວດວ່າ Agent ບໍ່ໄດ້ລຶບໄຟລ໌ຕົ້ນສະບັບ ຕອນປ່ຽນຊື່.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ອະທິບາຍວ່າອາທິດໜ້າ ມີເວລາ 50 ນາທີ ສຳລັບ Final Project. ຜູ້ທີ່ບໍ່ສາມາດໃຊ້ຂໍ້ມູນຈິງ ໃຫ້ສ້າງຂໍ້ມູນສົມມຸດທີ່ຄ້າຍກັບວຽກຈິງ.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ເລີ່ມດ້ວຍການກວດການບ້ານ: ແຕ່ລະຄົນບອກວຽກທີ່ເລືອກ 30 ວິນາທີ. ມື້ນີ້ເປັນມື້ທີ່ຕ້ອງລະວັງທີ່ສຸດ ເພາະກ່ຽວກັບເງິນ.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ເນັ້ນວ່າລຳດັບນີ້ເປັນຕົວຢ່າງສຳລັບຝຶກ. ແຕ່ລະບໍລິສັດ ແລະ ແຕ່ລະຜະລິດຕະພັນ ອາດມີລຳດັບຕ່າງກັນ. ຜູ້ຮຽນຕ້ອງເອົາເງື່ອນໄຂຈິງມາໃສ່ໃນໄຟລ໌ຕັ້ງຄ່າ.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ໃຫ້ຜູ້ຮຽນຄິດໄລ່ດ້ວຍມືພ້ອມກັນ ກ່ອນສະແດງແຖວສຸດທ້າຍ. ນີ້ແມ່ນຮູບແບບຕາຕະລາງທີ່ Claim Calculator ຕ້ອງສະແດງ.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ກໍລະນີທົດສອບ 10 ກໍລະນີ ຢູ່ໃນ tests/ ພ້ອມຄຳຕອບທີ່ຄິດດ້ວຍມື. ອະທິບາຍວ່າການທົດສອບແມ່ນສິ່ງທີ່ເຮັດໃຫ້ເຊື່ອເຄື່ອງມືໄດ້.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ປະໂຫຍກສຸດທ້າຍສຳຄັນ: ບາງຄັ້ງ AI ຈະພະຍາຍາມແກ້ຄຳຕອບໃນໄຟລ໌ທົດສອບໃຫ້ກົງກັບຜົນຂອງມັນ. ກວດ Walkthrough ວ່າໄຟລ໌ tests/ ບໍ່ຖືກແກ້.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ຖາມຜູ້ຮຽນທີ່ເຮັດວຽກເຄລມວ່າ ໃນປະສົບການ ມີສັນຍານອື່ນອີກບໍ. ເພີ່ມເຂົ້າ checklists/red_flags.md.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ໃຫ້ເວລາ 25 ນາທີ. ເມື່ອສຳເລັດ ເປີດເຜີຍລາຍຊື່ເຄລມທີ່ຝັງ Red Flag ໄວ້ ໃຫ້ຜູ້ຮຽນທຽບວ່າ Agent ພົບຄົບບໍ ແລະ ໝາຍຜິດຈັກລາຍການ.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ຍ້ຳວ່າລູກຄ້າທີ່ຖືກໝາຍ ສ່ວນຫຼາຍບໍ່ໄດ້ເຮັດຫຍັງຜິດ. ການປະຕິເສດເຄລມໂດຍອີງໃສ່ AI ຢ່າງດຽວ ສ້າງຄວາມເສຍຫາຍໃຫ້ລູກຄ້າ ແລະ ຊື່ສຽງຂອງບໍລິສັດ.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ມື້ສຸດທ້າຍ: ເຮັດໃຫ້ລະບົບແລ່ນເອງ ແລະ ນຳໄປໃຊ້ກັບວຽກຈິງ. ເວລາເກີນເຄິ່ງໜຶ່ງເປັນຂອງ Final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ສະແດງເປົ້າໝາຍຂອງ Workshop: Dashboard ແບບນີ້ ເປີດໃນ Browser. ໃຊ້ທະບຽນເຄລມຈາກຫຼັກສູດ Basic ຫຼື ໄຟລ໌ທີ່ຜູ້ສອນກຽມໃຫ້.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ໃຫ້ເວລາ 20 ນາທີ. ໜ້າເວັບນີ້ແລ່ນໃນຄອມຂອງຜູ້ຮຽນເທົ່ານັ້ນ. ການເປີດໃຫ້ທີມໃຊ້ ຕ້ອງປຶກສາ IT ເລື່ອງເຊີບເວີ ແລະ ສິດເຂົ້າເຖິງ.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ສາທິດໃນ Agent Manager: ເປີດ 3 ວຽກພ້ອມກັນ. ສະແດງວິທີເບິ່ງສະຖານະ ແລະ Artifacts ຂອງແຕ່ລະ Agent. ເຕືອນວ່າຫຼາຍ Agent ໃຊ້ໂຄຕ້າໄວຂຶ້ນ.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ສາທິດການຕັ້ງວຽກຕາມເວລາ. ເວລາໃນສະໄລເປັນຕົວຢ່າງ. ຍ້ຳວ່າລາຍງານທີ່ແລ່ນເອງ ກໍຍັງຕ້ອງມີຄົນກວດກ່ອນສົ່ງ.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ສອນເປັນພາບລວມເທົ່ານັ້ນ ບໍ່ຕ້ອງຕິດຕັ້ງໃນຫ້ອງ. MCP ເປັນມາດຕະຖານທີ່ໃຫ້ Agent ເຊື່ອມກັບເຄື່ອງມືພາຍນອກ. ທຸກການເຊື່ອມຕໍ່ກັບລະບົບອົງກອນ ຕ້ອງຜ່ານ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ແບ່ງເວລາ: 5 ນາທີ ບັນຫາ ແລະ ຂໍ້ມູນ, 10 ນາທີ Rules ແລະ Skill, 30 ນາທີ ສ້າງ ແລະ ທົດສອບ, 5 ນາທີ ກຽມນຳສະເໜີ. ຍ່າງຊ່ວຍທຸກຄົນຢ່າງໜ້ອຍ 1 ຄັ້ງ.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ຈັບເວລາຄົນລະ 3 ນາທີ. ໃຫ້ໝູ່ໃນຫ້ອງຖາມ 1 ຄຳຖາມ. ຈົດຂັ້ນຕໍ່ໄປຂອງແຕ່ລະຄົນ ເພື່ອຕິດຕາມໃນການປຶກສາ 1:1.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ຂັ້ນທີ 2 ສຳຄັນທີ່ສຸດ: ຢ່າປ່ຽນວິທີເກົ່າທັນທີ. ເຮັດຄູ່ກັນຈົນໝັ້ນໃຈວ່າຜົນຖືກຕ້ອງ.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ໃຫ້ຜູ້ຮຽນ ZIP ໂຟນເດີວຽກ (ບໍ່ລວມຂໍ້ມູນຈິງ) ເກັບໄວ້. ແຈກແບບຟອມປະເມີນ ແລະ ນັດການປຶກສາ 1:1.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ມອບໃບຢັ້ງຢືນ ແລະ ຖ່າຍຮູບລວມ.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6766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212080"/>
            <a:ext cx="6766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6868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8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017520"/>
            <a:ext cx="53949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000" dirty="0">
                <a:solidFill>
                  <a:schemeClr val="accent5"/>
                </a:solidFill>
              </a:rPr>
              <a:t>Antigravity Advanced · ລະບົບອັດຕະໂນມັດ ສຳລັບວຽກເຄລມ</a:t>
            </a:r>
            <a:endParaRPr lang="lo-LA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KSHOP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000" dirty="0">
                <a:solidFill>
                  <a:schemeClr val="accent5"/>
                </a:solidFill>
              </a:rPr>
              <a:t>Antigravity Advanced · ລະບົບອັດຕະໂນມັດ ສຳລັບວຽກເຄລມ</a:t>
            </a:r>
            <a:endParaRPr lang="lo-LA" sz="1000" dirty="0"/>
          </a:p>
        </p:txBody>
      </p:sp>
      <p:sp>
        <p:nvSpPr>
          <p:cNvPr id="5" name="Text 1"/>
          <p:cNvSpPr/>
          <p:nvPr/>
        </p:nvSpPr>
        <p:spPr>
          <a:xfrm>
            <a:off x="10085832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WORKSHOP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b="1" spc="100" kern="0" dirty="0">
                <a:solidFill>
                  <a:schemeClr val="bg2"/>
                </a:solidFill>
              </a:rPr>
              <a:t>ຫຼັກສູດ Google Antigravity</a:t>
            </a:r>
            <a:endParaRPr lang="lo-LA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4600" b="1" dirty="0">
                <a:solidFill>
                  <a:schemeClr val="bg1"/>
                </a:solidFill>
              </a:rPr>
              <a:t>Antigravity Advanced</a:t>
            </a:r>
            <a:endParaRPr lang="lo-LA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dirty="0">
                <a:solidFill>
                  <a:schemeClr val="accent2"/>
                </a:solidFill>
              </a:rPr>
              <a:t>ສ້າງລະບົບອັດຕະໂນມັດ ສຳລັບວຽກເຄລມປະກັນໄພ</a:t>
            </a:r>
            <a:endParaRPr lang="lo-LA" sz="22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5212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bg2"/>
                </a:solidFill>
              </a:rPr>
              <a:t>8 ຊົ່ວໂມງ · 2 ເສົາ-ອາທິດ ມື້ລະ 2 ຊົ່ວໂມງ · ຜູ້ສອນ: [ຊື່ຜູ້ສອນ]</a:t>
            </a:r>
            <a:endParaRPr lang="lo-LA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914400"/>
            <a:ext cx="4297680" cy="5029200"/>
          </a:xfrm>
          <a:prstGeom prst="ellipse">
            <a:avLst/>
          </a:prstGeom>
          <a:noFill/>
          <a:ln w="19050">
            <a:solidFill>
              <a:srgbClr val="25474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rot="-240000">
            <a:off x="7589520" y="14173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240000">
            <a:off x="781812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ລະບົບກວດເອກະສານ</a:t>
            </a:r>
            <a:endParaRPr lang="lo-LA" sz="1200" dirty="0"/>
          </a:p>
        </p:txBody>
      </p:sp>
      <p:sp>
        <p:nvSpPr>
          <p:cNvPr id="9" name="Text 7"/>
          <p:cNvSpPr txBox="1"/>
          <p:nvPr/>
        </p:nvSpPr>
        <p:spPr>
          <a:xfrm rot="-240000">
            <a:off x="78181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CLM-2026-0142 · ຂາດ 1/6</a:t>
            </a:r>
            <a:endParaRPr lang="lo-LA" sz="1400" dirty="0"/>
          </a:p>
        </p:txBody>
      </p:sp>
      <p:sp>
        <p:nvSpPr>
          <p:cNvPr id="10" name="Shape 8"/>
          <p:cNvSpPr/>
          <p:nvPr/>
        </p:nvSpPr>
        <p:spPr>
          <a:xfrm rot="180000">
            <a:off x="8229600" y="27889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180000">
            <a:off x="845820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Claim Calculator</a:t>
            </a:r>
            <a:endParaRPr lang="lo-LA" sz="1200" dirty="0"/>
          </a:p>
        </p:txBody>
      </p:sp>
      <p:sp>
        <p:nvSpPr>
          <p:cNvPr id="12" name="Text 10"/>
          <p:cNvSpPr txBox="1"/>
          <p:nvPr/>
        </p:nvSpPr>
        <p:spPr>
          <a:xfrm rot="180000">
            <a:off x="84582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ຍອດຄວນຈ່າຍ 6,500,000 ກີບ</a:t>
            </a:r>
            <a:endParaRPr lang="lo-LA" sz="1400" dirty="0"/>
          </a:p>
        </p:txBody>
      </p:sp>
      <p:sp>
        <p:nvSpPr>
          <p:cNvPr id="13" name="Shape 11"/>
          <p:cNvSpPr/>
          <p:nvPr/>
        </p:nvSpPr>
        <p:spPr>
          <a:xfrm rot="-90000">
            <a:off x="7772400" y="41605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 rot="-90000">
            <a:off x="8001000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Red Flag Checker</a:t>
            </a:r>
            <a:endParaRPr lang="lo-LA" sz="1200" dirty="0"/>
          </a:p>
        </p:txBody>
      </p:sp>
      <p:sp>
        <p:nvSpPr>
          <p:cNvPr id="15" name="Text 13"/>
          <p:cNvSpPr txBox="1"/>
          <p:nvPr/>
        </p:nvSpPr>
        <p:spPr>
          <a:xfrm rot="-90000">
            <a:off x="80010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ຄວນກວດເພີ່ມ 7 ເຄລມ</a:t>
            </a:r>
            <a:endParaRPr lang="lo-LA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ພາບລວມຫຼັກສູດ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ແຜນການຮຽນ 4 ມື້ (2 ເສົາ-ອາທິດ)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0195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ອາທິດທີ 1 · ວັນເສົາ</a:t>
            </a:r>
            <a:endParaRPr lang="lo-LA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ສອນ Agent ໃຫ້ຮູ້ວຽກຂອງອົງກອນ</a:t>
            </a:r>
            <a:endParaRPr lang="lo-LA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6517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15 ນາທີ</a:t>
            </a:r>
            <a:endParaRPr lang="lo-LA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624328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ທົບທວນ ແລະ ກຳນົດໂຈດ</a:t>
            </a:r>
            <a:endParaRPr lang="lo-LA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935224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352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35 ນາທີ</a:t>
            </a:r>
            <a:endParaRPr lang="lo-LA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907792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Rules: ກົດລະບຽບຂອງທີມ</a:t>
            </a:r>
            <a:endParaRPr lang="lo-LA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30 ນາທີ</a:t>
            </a:r>
            <a:endParaRPr lang="lo-LA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191256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Skills ແລະ ການກວດແຜນງານ</a:t>
            </a:r>
            <a:endParaRPr lang="lo-LA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3502152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5021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40 ນາທີ</a:t>
            </a:r>
            <a:endParaRPr lang="lo-LA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474720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Workshop: ລາຍງານເຄລມປະຈຳອາທິດ</a:t>
            </a:r>
            <a:endParaRPr lang="lo-LA" sz="1400" dirty="0"/>
          </a:p>
        </p:txBody>
      </p:sp>
      <p:sp>
        <p:nvSpPr>
          <p:cNvPr id="19" name="Shape 17"/>
          <p:cNvSpPr/>
          <p:nvPr/>
        </p:nvSpPr>
        <p:spPr>
          <a:xfrm>
            <a:off x="6233008" y="17373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190195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ອາທິດທີ 1 · ວັນອາທິດ</a:t>
            </a:r>
            <a:endParaRPr lang="lo-LA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21945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ອ່ານເອກະສານ ແລະ ກວດຄວາມຄົບຖ້ວນ</a:t>
            </a:r>
            <a:endParaRPr lang="lo-LA" sz="1600" dirty="0"/>
          </a:p>
        </p:txBody>
      </p:sp>
      <p:sp>
        <p:nvSpPr>
          <p:cNvPr id="22" name="Shape 20"/>
          <p:cNvSpPr/>
          <p:nvPr/>
        </p:nvSpPr>
        <p:spPr>
          <a:xfrm>
            <a:off x="6553048" y="2651760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53048" y="26517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30 ນາທີ</a:t>
            </a:r>
            <a:endParaRPr lang="lo-LA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696048" y="2624328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ສະກັດຂໍ້ມູນຈາກ PDF ແລະ ຮູບຖ່າຍ</a:t>
            </a:r>
            <a:endParaRPr lang="lo-LA" sz="1400" dirty="0"/>
          </a:p>
        </p:txBody>
      </p:sp>
      <p:sp>
        <p:nvSpPr>
          <p:cNvPr id="25" name="Shape 23"/>
          <p:cNvSpPr/>
          <p:nvPr/>
        </p:nvSpPr>
        <p:spPr>
          <a:xfrm>
            <a:off x="6553048" y="2935224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53048" y="29352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20 ນາທີ</a:t>
            </a:r>
            <a:endParaRPr lang="lo-LA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696048" y="2907792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Checklist ເອກະສານເຄລມ</a:t>
            </a:r>
            <a:endParaRPr lang="lo-LA" sz="1400" dirty="0"/>
          </a:p>
        </p:txBody>
      </p:sp>
      <p:sp>
        <p:nvSpPr>
          <p:cNvPr id="28" name="Shape 26"/>
          <p:cNvSpPr/>
          <p:nvPr/>
        </p:nvSpPr>
        <p:spPr>
          <a:xfrm>
            <a:off x="6553048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53048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55 ນາທີ</a:t>
            </a:r>
            <a:endParaRPr lang="lo-LA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696048" y="3191256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Workshop: ລະບົບກວດເອກະສານ</a:t>
            </a:r>
            <a:endParaRPr lang="lo-LA" sz="1400" dirty="0"/>
          </a:p>
        </p:txBody>
      </p:sp>
      <p:sp>
        <p:nvSpPr>
          <p:cNvPr id="31" name="Shape 29"/>
          <p:cNvSpPr/>
          <p:nvPr/>
        </p:nvSpPr>
        <p:spPr>
          <a:xfrm>
            <a:off x="6553048" y="3502152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53048" y="35021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15 ນາທີ</a:t>
            </a:r>
            <a:endParaRPr lang="lo-LA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696048" y="3474720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ທົບທວນ ແລະ ການບ້ານ</a:t>
            </a:r>
            <a:endParaRPr lang="lo-LA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06908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8680" y="423367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ອາທິດທີ 2 · ວັນເສົາ</a:t>
            </a:r>
            <a:endParaRPr lang="lo-LA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45262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ຄິດໄລ່ ແລະ ກວດຄວາມສ່ຽງຂອງເຄລມ</a:t>
            </a:r>
            <a:endParaRPr lang="lo-LA" sz="1600" dirty="0"/>
          </a:p>
        </p:txBody>
      </p:sp>
      <p:sp>
        <p:nvSpPr>
          <p:cNvPr id="37" name="Shape 35"/>
          <p:cNvSpPr/>
          <p:nvPr/>
        </p:nvSpPr>
        <p:spPr>
          <a:xfrm>
            <a:off x="868680" y="4983480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68680" y="4983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30 ນາທີ</a:t>
            </a:r>
            <a:endParaRPr lang="lo-LA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2011680" y="4956048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ກົດການຄິດໄລ່ຄ່າສິນໄໝ</a:t>
            </a:r>
            <a:endParaRPr lang="lo-LA" sz="1400" dirty="0"/>
          </a:p>
        </p:txBody>
      </p:sp>
      <p:sp>
        <p:nvSpPr>
          <p:cNvPr id="40" name="Shape 38"/>
          <p:cNvSpPr/>
          <p:nvPr/>
        </p:nvSpPr>
        <p:spPr>
          <a:xfrm>
            <a:off x="868680" y="5266944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68680" y="52669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40 ນາທີ</a:t>
            </a:r>
            <a:endParaRPr lang="lo-LA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2011680" y="5239512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Workshop: Claim Calculator</a:t>
            </a:r>
            <a:endParaRPr lang="lo-LA" sz="1400" dirty="0"/>
          </a:p>
        </p:txBody>
      </p:sp>
      <p:sp>
        <p:nvSpPr>
          <p:cNvPr id="43" name="Shape 41"/>
          <p:cNvSpPr/>
          <p:nvPr/>
        </p:nvSpPr>
        <p:spPr>
          <a:xfrm>
            <a:off x="868680" y="5550408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68680" y="55504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40 ນາທີ</a:t>
            </a:r>
            <a:endParaRPr lang="lo-LA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2011680" y="5522976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Workshop: Red Flag Checker</a:t>
            </a:r>
            <a:endParaRPr lang="lo-LA" sz="1400" dirty="0"/>
          </a:p>
        </p:txBody>
      </p:sp>
      <p:sp>
        <p:nvSpPr>
          <p:cNvPr id="46" name="Shape 44"/>
          <p:cNvSpPr/>
          <p:nvPr/>
        </p:nvSpPr>
        <p:spPr>
          <a:xfrm>
            <a:off x="868680" y="5833872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68680" y="5833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10 ນາທີ</a:t>
            </a:r>
            <a:endParaRPr lang="lo-LA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2011680" y="5806440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ສະຫຼຸບ</a:t>
            </a:r>
            <a:endParaRPr lang="lo-LA" sz="1400" dirty="0"/>
          </a:p>
        </p:txBody>
      </p:sp>
      <p:sp>
        <p:nvSpPr>
          <p:cNvPr id="49" name="Shape 47"/>
          <p:cNvSpPr/>
          <p:nvPr/>
        </p:nvSpPr>
        <p:spPr>
          <a:xfrm>
            <a:off x="6233008" y="406908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553048" y="423367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ອາທິດທີ 2 · ວັນອາທິດ</a:t>
            </a:r>
            <a:endParaRPr lang="lo-LA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553048" y="45262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Dashboard, ວຽກອັດຕະໂນມັດ, Final Project</a:t>
            </a:r>
            <a:endParaRPr lang="lo-LA" sz="1600" dirty="0"/>
          </a:p>
        </p:txBody>
      </p:sp>
      <p:sp>
        <p:nvSpPr>
          <p:cNvPr id="52" name="Shape 50"/>
          <p:cNvSpPr/>
          <p:nvPr/>
        </p:nvSpPr>
        <p:spPr>
          <a:xfrm>
            <a:off x="6553048" y="4983480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53048" y="4983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30 ນາທີ</a:t>
            </a:r>
            <a:endParaRPr lang="lo-LA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696048" y="4956048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Workshop: Dashboard ຕິດຕາມເຄລມ</a:t>
            </a:r>
            <a:endParaRPr lang="lo-LA" sz="1400" dirty="0"/>
          </a:p>
        </p:txBody>
      </p:sp>
      <p:sp>
        <p:nvSpPr>
          <p:cNvPr id="55" name="Shape 53"/>
          <p:cNvSpPr/>
          <p:nvPr/>
        </p:nvSpPr>
        <p:spPr>
          <a:xfrm>
            <a:off x="6553048" y="5266944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553048" y="52669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20 ນາທີ</a:t>
            </a:r>
            <a:endParaRPr lang="lo-LA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7696048" y="5239512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Agent Manager ແລະ ວຽກແລ່ນເອງ</a:t>
            </a:r>
            <a:endParaRPr lang="lo-LA" sz="1400" dirty="0"/>
          </a:p>
        </p:txBody>
      </p:sp>
      <p:sp>
        <p:nvSpPr>
          <p:cNvPr id="58" name="Shape 56"/>
          <p:cNvSpPr/>
          <p:nvPr/>
        </p:nvSpPr>
        <p:spPr>
          <a:xfrm>
            <a:off x="6553048" y="5550408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553048" y="55504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50 ນາທີ</a:t>
            </a:r>
            <a:endParaRPr lang="lo-LA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7696048" y="5522976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Final Project</a:t>
            </a:r>
            <a:endParaRPr lang="lo-LA" sz="1400" dirty="0"/>
          </a:p>
        </p:txBody>
      </p:sp>
      <p:sp>
        <p:nvSpPr>
          <p:cNvPr id="61" name="Shape 59"/>
          <p:cNvSpPr/>
          <p:nvPr/>
        </p:nvSpPr>
        <p:spPr>
          <a:xfrm>
            <a:off x="6553048" y="5833872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53048" y="5833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tx1"/>
                </a:solidFill>
              </a:rPr>
              <a:t>20 ນາທີ</a:t>
            </a:r>
            <a:endParaRPr lang="lo-LA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7696048" y="5806440"/>
            <a:ext cx="362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tx1"/>
                </a:solidFill>
              </a:rPr>
              <a:t>ນຳສະເໜີ ແລະ ປິດຫຼັກສູດ</a:t>
            </a:r>
            <a:endParaRPr lang="lo-L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ສິ່ງທີ່ຈະໄດ້ຮັບ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ຮຽນຈົບ ທ່ານຈະມີ 5 ລະບົບ ແລະ 1 ໂປຣເຈັກ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ລາຍງານເຄລມປະຈຳອາທິດ</a:t>
            </a:r>
            <a:endParaRPr lang="lo-LA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7296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ກົດດຽວ ຫຼື ແລ່ນເອງທຸກວັນຈັນ</a:t>
            </a:r>
            <a:endParaRPr lang="lo-LA" sz="15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057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01" y="219346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7432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ລະບົບກວດເອກະສານເຄລມ</a:t>
            </a:r>
            <a:endParaRPr lang="lo-LA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17296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ບອກເອກະສານທີ່ຂາດ ແລະ ຮ່າງຈົດໝາຍ</a:t>
            </a:r>
            <a:endParaRPr lang="lo-LA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057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180" y="219346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7432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Claim Calculator</a:t>
            </a:r>
            <a:endParaRPr lang="lo-LA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17296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ຄິດໄລ່ຍອດຈ່າຍ ພ້ອມອະທິບາຍທຸກຂັ້ນ</a:t>
            </a:r>
            <a:endParaRPr lang="lo-LA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425086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8006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Red Flag Checker</a:t>
            </a:r>
            <a:endParaRPr lang="lo-LA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23036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ຊີ້ເຄລມທີ່ຄວນກວດເພີ່ມ ພ້ອມເຫດຜົນ</a:t>
            </a:r>
            <a:endParaRPr lang="lo-LA" sz="1500" dirty="0"/>
          </a:p>
        </p:txBody>
      </p:sp>
      <p:sp>
        <p:nvSpPr>
          <p:cNvPr id="24" name="Shape 18"/>
          <p:cNvSpPr/>
          <p:nvPr/>
        </p:nvSpPr>
        <p:spPr>
          <a:xfrm>
            <a:off x="4338218" y="384048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2538" y="4114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601" y="425086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2538" y="48006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Dashboard ຕິດຕາມເຄລມ</a:t>
            </a:r>
            <a:endParaRPr lang="lo-LA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612538" y="523036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ຈຳນວນ, ຍອດເງິນ ແລະ SLA</a:t>
            </a:r>
            <a:endParaRPr lang="lo-LA" sz="1500" dirty="0"/>
          </a:p>
        </p:txBody>
      </p:sp>
      <p:sp>
        <p:nvSpPr>
          <p:cNvPr id="29" name="Shape 22"/>
          <p:cNvSpPr/>
          <p:nvPr/>
        </p:nvSpPr>
        <p:spPr>
          <a:xfrm>
            <a:off x="8127797" y="384048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02117" y="41148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180" y="425086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02117" y="48006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Final Project</a:t>
            </a:r>
            <a:endParaRPr lang="lo-LA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402117" y="523036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ແກ້ບັນຫາຈິງໃນວຽກຂອງທ່ານ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ທົບທວນ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ທົບທວນ Basic ໃນ 1 ໜ້າ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890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70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ວົງຈອນ Agent</a:t>
            </a:r>
            <a:endParaRPr lang="lo-LA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ຮັບເປົ້າໝາຍ, ວາງແຜນ, ລົງມືເຮັດ, ກວດ ແລະ ລາຍງານ</a:t>
            </a:r>
            <a:endParaRPr lang="lo-LA" sz="1600" dirty="0"/>
          </a:p>
        </p:txBody>
      </p:sp>
      <p:sp>
        <p:nvSpPr>
          <p:cNvPr id="9" name="Shape 6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507328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001" y="21890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07328" y="2770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ສູດສັ່ງງານ 5 ຂໍ້</a:t>
            </a:r>
            <a:endParaRPr lang="lo-LA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3291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ບົດບາດ · ເປົ້າໝາຍ · ຂໍ້ມູນ · ຮູບແບບຜົນລັບ · ການກວດ</a:t>
            </a:r>
            <a:endParaRPr lang="lo-LA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4750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5056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Artifacts</a:t>
            </a:r>
            <a:endParaRPr lang="lo-LA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577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Task List, Implementation Plan ແລະ Walkthrough</a:t>
            </a:r>
            <a:endParaRPr lang="lo-LA" sz="1600" dirty="0"/>
          </a:p>
        </p:txBody>
      </p:sp>
      <p:sp>
        <p:nvSpPr>
          <p:cNvPr id="19" name="Shape 14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6507328" y="4343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001" y="44750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07328" y="5056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ຄວາມປອດໄພ</a:t>
            </a:r>
            <a:endParaRPr lang="lo-LA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6507328" y="5577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ແຍກ data/ ແລະ output/, ປິດບັງຂໍ້ມູນ, ຄົນຕັດສິນ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68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8800" b="1" dirty="0">
                <a:solidFill>
                  <a:schemeClr val="accent2"/>
                </a:solidFill>
              </a:rPr>
              <a:t>01</a:t>
            </a:r>
            <a:endParaRPr lang="lo-LA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bg2"/>
                </a:solidFill>
              </a:rPr>
              <a:t>ອາທິດທີ 1 · ວັນເສົາ · 2 ຊົ່ວໂມງ</a:t>
            </a:r>
            <a:endParaRPr lang="lo-LA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0175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400" b="1" dirty="0">
                <a:solidFill>
                  <a:schemeClr val="bg1"/>
                </a:solidFill>
              </a:rPr>
              <a:t>ສອນ Agent ໃຫ້ຮູ້ວຽກຂອງອົງກອນ</a:t>
            </a:r>
            <a:endParaRPr lang="lo-LA" sz="3400" dirty="0"/>
          </a:p>
        </p:txBody>
      </p:sp>
      <p:sp>
        <p:nvSpPr>
          <p:cNvPr id="5" name="Shape 3"/>
          <p:cNvSpPr/>
          <p:nvPr/>
        </p:nvSpPr>
        <p:spPr>
          <a:xfrm>
            <a:off x="6492240" y="114300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1143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15 ນາທີ</a:t>
            </a:r>
            <a:endParaRPr lang="lo-L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12471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ທົບທວນ ແລະ ກຳນົດໂຈດ</a:t>
            </a:r>
            <a:endParaRPr lang="lo-LA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205740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4028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35 ນາທີ</a:t>
            </a:r>
            <a:endParaRPr lang="lo-L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22199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Rules: ກົດລະບຽບຂອງທີມ</a:t>
            </a:r>
            <a:endParaRPr lang="lo-LA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315468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33756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30 ນາທີ</a:t>
            </a:r>
            <a:endParaRPr lang="lo-L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31927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Skills ແລະ ການກວດແຜນງານ</a:t>
            </a:r>
            <a:endParaRPr lang="lo-LA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425196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434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40 ນາທີ</a:t>
            </a:r>
            <a:endParaRPr lang="lo-L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441655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Workshop: ລາຍງານເຄລມປະຈຳອາທິດ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15 ນາທີ · ກຳນົດໂຈດ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ລາຍຊື່ວຽກຊ້ຳຊາກ 3 ຢ່າງ ແລ້ວເລືອກ 1</a:t>
            </a:r>
            <a:endParaRPr lang="lo-LA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645920"/>
                <a:gridCol w="2468880"/>
                <a:gridCol w="24076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ວຽກ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ເຮັດຖີ່ປານໃດ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ເວລາຕໍ່ຄັ້ງ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ຂໍ້ມູນນຳເຂົ້າ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ຜົນລັບ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ຕົວຢ່າງ: ລາຍງານເຄລມປະຈຳອາທິດ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ທຸກວັນຈັນ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3 ຊົ່ວໂມງ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ໄຟລ໌ Export ຈາກລະບົບ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Excel + ບົດສະຫຼຸບ 1 ໜ້າ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ວຽກທີ 1 ຂອງທ່ານ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ວຽກທີ 2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ວຽກທີ 3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029932"/>
            <a:ext cx="199705" cy="199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493776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ເລືອກວຽກທີ່ ຄວາມຖີ່ x ເວລາ ສູງສຸດ ແລະ ຂໍ້ມູນຢູ່ໃນໄຟລ໌ ເປັນ Final Project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35 ນາທີ · Rules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Rules: ກົດທີ່ Agent ຕ້ອງປະຕິບັດທຸກຄັ້ງ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1004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Rules ທົ່ວໄປ</a:t>
            </a:r>
            <a:endParaRPr lang="lo-L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ໃຊ້ກັບທຸກໂປຣເຈັກ ເຊັ່ນ ພາສາຂອງລາຍງານ ແລະ ຮູບແບບວັນທີ</a:t>
            </a:r>
            <a:endParaRPr lang="lo-LA" sz="1800" dirty="0"/>
          </a:p>
        </p:txBody>
      </p:sp>
      <p:sp>
        <p:nvSpPr>
          <p:cNvPr id="9" name="Shape 6"/>
          <p:cNvSpPr/>
          <p:nvPr/>
        </p:nvSpPr>
        <p:spPr>
          <a:xfrm>
            <a:off x="6233008" y="1783080"/>
            <a:ext cx="5410048" cy="3474720"/>
          </a:xfrm>
          <a:prstGeom prst="roundRect">
            <a:avLst>
              <a:gd name="adj" fmla="val 3158"/>
            </a:avLst>
          </a:prstGeom>
          <a:solidFill>
            <a:schemeClr val="accent6"/>
          </a:solidFill>
          <a:ln/>
        </p:spPr>
      </p:sp>
      <p:sp>
        <p:nvSpPr>
          <p:cNvPr id="10" name="Shape 7"/>
          <p:cNvSpPr/>
          <p:nvPr/>
        </p:nvSpPr>
        <p:spPr>
          <a:xfrm>
            <a:off x="6507328" y="2057400"/>
            <a:ext cx="658368" cy="65836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336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07328" y="2926080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accent1"/>
                </a:solidFill>
              </a:rPr>
              <a:t>Rules ຂອງໂຟນເດີວຽກ</a:t>
            </a:r>
            <a:endParaRPr lang="lo-L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361188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ໃຊ້ສະເພາະໂປຣເຈັກນີ້ ເຊັ່ນ ກົດຂອງທີມເຄລມ ແລະ ຂໍ້ຫ້າມດ້ານຂໍ້ມູນ</a:t>
            </a:r>
            <a:endParaRPr lang="lo-LA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ຂຽນເທື່ອດຽວ Agent ອ່ານທຸກຄັ້ງ ບໍ່ຕ້ອງບອກຊ້ຳໃນທຸກຄຳສັ່ງ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35 ນາທີ · Rules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ຕົວຢ່າງ Rules ຂອງທີມເຄລມ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ຂັ້ນຕອນ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ສ້າງ Rules ຂອງໂຟນເດີວຽກ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ວາງກົດນີ້ ແລ້ວປັບຕາມທີມ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ສັ່ງວຽກ ໂດຍບໍ່ບອກຮູບແບບວັນທີ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ກວດວ່າ Agent ປະຕິບັດຕາມ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RULES</a:t>
            </a:r>
            <a:endParaRPr lang="lo-LA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- ວັນທີທຸກບ່ອນໃຊ້ຮູບແບບ ວວ/ດດ/ປປປປ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- ຈຳນວນເງິນເປັນກີບ ມີຈຸດຂັ້ນຫຼັກພັນ (1,250,000) ບໍ່ມີທົດສະນິຍົມ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- ຂຽນລາຍງານເປັນພາສາລາວ. ຄຳສັບເຕັກນິກໃຊ້ພາສາອັງກິດໄດ້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- ຫ້າມອັບໂຫຼດ ຫຼື ສົ່ງໄຟລ໌ໃນ data/ ອອກນອກຄອມພິວເຕີ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- ຫ້າມລຶບ ຫຼື ຂຽນທັບໄຟລ໌ຕົ້ນສະບັບ. ບັນທຶກຜົນລັບໃນ output/ ເທົ່ານັ້ນ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- ທຸກຕົວເລກໃນລາຍງານ ຕ້ອງບອກແຫຼ່ງທີ່ມາ (ໄຟລ໌ ແລະ ຊີດ)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35 ນາທີ · Rules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ຂຽນ Rules ໃຫ້ກວດໄດ້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B940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4"/>
                </a:solidFill>
              </a:rPr>
              <a:t>ກວ້າງເກີນໄປ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ຂຽນລາຍງານໃຫ້ດີ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ລະວັງຂໍ້ມູນລູກຄ້າ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ຈັດຮູບແບບໃຫ້ສວຍ</a:t>
            </a:r>
            <a:endParaRPr lang="lo-LA" sz="190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598768" y="2103120"/>
            <a:ext cx="548640" cy="548640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41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3"/>
                </a:solidFill>
              </a:rPr>
              <a:t>ຊັດເຈນ ກວດໄດ້</a:t>
            </a:r>
            <a:endParaRPr lang="lo-L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ລາຍງານເປັນພາສາລາວ ບໍ່ເກີນ 1 ໜ້າ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ຫ້າມອັບໂຫຼດໄຟລ໌ໃນ data/ ອອກນອກຄອມ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ເງິນເປັນກີບ ມີຈຸດຂັ້ນຫຼັກພັນ, ບໍ່ມີທົດສະນິຍົມ</a:t>
            </a:r>
            <a:endParaRPr lang="lo-LA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5696712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5788884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5696712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ທົດສອບ: ຖ້າ 2 ຄົນອ່ານ Rule ດຽວກັນ ແລ້ວເຂົ້າໃຈຕ່າງກັນ ໃຫ້ຂຽນໃໝ່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30 ນາທີ · Skills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Skills: ບັນຈຸວຽກປະຈຳ ໃຫ້ເອີ້ນໃຊ້ຊ້ຳໄດ້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Skill ທີ່ດີມີ 4 ສ່ວນ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ຊື່ ແລະ ເວລາໃຊ້: Agent ຮູ້ວ່າຄວນໃຊ້ຕອນໃດ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ຂັ້ນຕອນ: ເຮັດຫຍັງ ຕາມລຳດັບໃດ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ໄຟລ໌ປະກອບ: ແມ່ແບບ ແລະ ຕົວຢ່າງ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ການກວດ: ເງື່ອນໄຂທີ່ຜົນລັບຕ້ອງຜ່ານ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SKILL</a:t>
            </a:r>
            <a:endParaRPr lang="lo-LA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ຊື່: ລາຍງານເຄລມປະຈຳອາທິດ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ໃຊ້ເມື່ອ: ຜູ້ໃຊ້ຂໍລາຍງານເຄລມປະຈຳອາທິດ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ຂັ້ນຕອນ: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1. ອ່ານໄຟລ໌ Export ລ່າສຸດ ໃນ data/export/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2. ສະຫຼຸບຈຳນວນ ແລະ ຍອດເງິນ ຕາມປະເພດ ແລະ ສະຖານະ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3. ທຽບກັບອາທິດກ່ອນ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4. ສ້າງ Excel + ກຣາຟ ແລະ ບົດສະຫຼຸບ 1 ໜ້າ (Word)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ກວດ: ຈຳນວນເຄລມລວມ ຕ້ອງເທົ່າກັບຈຳນວນແຖວໃນໄຟລ໌ Export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30 ນາທີ · Skills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ກວດແຜນງານ ກ່ອນ Agent ລົງມື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Agent ຂຽນແຜນ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Implementation Plan ທີລະຂັ້ນ</a:t>
            </a:r>
            <a:endParaRPr lang="lo-LA" sz="1700" dirty="0"/>
          </a:p>
        </p:txBody>
      </p:sp>
      <p:sp>
        <p:nvSpPr>
          <p:cNvPr id="9" name="Shape 6"/>
          <p:cNvSpPr/>
          <p:nvPr/>
        </p:nvSpPr>
        <p:spPr>
          <a:xfrm rot="5400000">
            <a:off x="3162224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3399968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656000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63" y="219346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6000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ທ່ານ Comment</a:t>
            </a:r>
            <a:endParaRPr lang="lo-LA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3656000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ຊີ້ຈຸດທີ່ຕ້ອງປັບ ໃນແຜນ</a:t>
            </a:r>
            <a:endParaRPr lang="lo-LA" sz="1700" dirty="0"/>
          </a:p>
        </p:txBody>
      </p:sp>
      <p:sp>
        <p:nvSpPr>
          <p:cNvPr id="15" name="Shape 11"/>
          <p:cNvSpPr/>
          <p:nvPr/>
        </p:nvSpPr>
        <p:spPr>
          <a:xfrm rot="5400000">
            <a:off x="6013552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1296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507328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390" y="21934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07328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Agent ປັບແຜນ</a:t>
            </a:r>
            <a:endParaRPr lang="lo-LA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ຕາມ Comment ຂອງທ່ານ</a:t>
            </a:r>
            <a:endParaRPr lang="lo-LA" sz="1700" dirty="0"/>
          </a:p>
        </p:txBody>
      </p:sp>
      <p:sp>
        <p:nvSpPr>
          <p:cNvPr id="21" name="Shape 16"/>
          <p:cNvSpPr/>
          <p:nvPr/>
        </p:nvSpPr>
        <p:spPr>
          <a:xfrm rot="5400000">
            <a:off x="8864879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2" name="Shape 17"/>
          <p:cNvSpPr/>
          <p:nvPr/>
        </p:nvSpPr>
        <p:spPr>
          <a:xfrm>
            <a:off x="9102623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9358655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718" y="219346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58655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ອະນຸມັດ</a:t>
            </a:r>
            <a:endParaRPr lang="lo-LA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9358655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Agent ຈຶ່ງລົງມືເຮັດ</a:t>
            </a:r>
            <a:endParaRPr lang="lo-LA" sz="1700" dirty="0"/>
          </a:p>
        </p:txBody>
      </p:sp>
      <p:sp>
        <p:nvSpPr>
          <p:cNvPr id="27" name="Shape 21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ຕົວຢ່າງ Comment: "ຂັ້ນຕອນ 2: ບໍ່ຕ້ອງນັບເຄລມທີ່ຍົກເລີກ"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40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Workshop: ລາຍງານເຄລມປະຈຳອາທິດ ກົດດຽວ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0432" cy="4114800"/>
          </a:xfrm>
          <a:prstGeom prst="roundRect">
            <a:avLst>
              <a:gd name="adj" fmla="val 4319"/>
            </a:avLst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Export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520440"/>
            <a:ext cx="2083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ໄຟລ໌ CSV ຈາກລະບົບເຄລມ</a:t>
            </a:r>
            <a:endParaRPr lang="lo-LA" sz="1700" dirty="0"/>
          </a:p>
        </p:txBody>
      </p:sp>
      <p:sp>
        <p:nvSpPr>
          <p:cNvPr id="9" name="Shape 6"/>
          <p:cNvSpPr/>
          <p:nvPr/>
        </p:nvSpPr>
        <p:spPr>
          <a:xfrm rot="5400000">
            <a:off x="3162224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3399968" y="1783080"/>
            <a:ext cx="2540432" cy="4114800"/>
          </a:xfrm>
          <a:prstGeom prst="roundRect">
            <a:avLst>
              <a:gd name="adj" fmla="val 4319"/>
            </a:avLst>
          </a:prstGeom>
          <a:solidFill>
            <a:schemeClr val="bg1"/>
          </a:solidFill>
          <a:ln/>
        </p:spPr>
      </p:sp>
      <p:sp>
        <p:nvSpPr>
          <p:cNvPr id="11" name="Shape 8"/>
          <p:cNvSpPr/>
          <p:nvPr/>
        </p:nvSpPr>
        <p:spPr>
          <a:xfrm>
            <a:off x="3656000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63" y="219346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6000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Skill</a:t>
            </a:r>
            <a:endParaRPr lang="lo-LA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3656000" y="3520440"/>
            <a:ext cx="2083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ລາຍງານເຄລມປະຈຳອາທິດ</a:t>
            </a:r>
            <a:endParaRPr lang="lo-LA" sz="1700" dirty="0"/>
          </a:p>
        </p:txBody>
      </p:sp>
      <p:sp>
        <p:nvSpPr>
          <p:cNvPr id="15" name="Shape 11"/>
          <p:cNvSpPr/>
          <p:nvPr/>
        </p:nvSpPr>
        <p:spPr>
          <a:xfrm rot="5400000">
            <a:off x="6013552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1296" y="1783080"/>
            <a:ext cx="2540432" cy="4114800"/>
          </a:xfrm>
          <a:prstGeom prst="roundRect">
            <a:avLst>
              <a:gd name="adj" fmla="val 4319"/>
            </a:avLst>
          </a:prstGeom>
          <a:solidFill>
            <a:schemeClr val="bg1"/>
          </a:solidFill>
          <a:ln/>
        </p:spPr>
      </p:sp>
      <p:sp>
        <p:nvSpPr>
          <p:cNvPr id="17" name="Shape 13"/>
          <p:cNvSpPr/>
          <p:nvPr/>
        </p:nvSpPr>
        <p:spPr>
          <a:xfrm>
            <a:off x="6507328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390" y="21934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07328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Excel</a:t>
            </a:r>
            <a:endParaRPr lang="lo-LA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3520440"/>
            <a:ext cx="2083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ຕາຕະລາງສະຫຼຸບ ແລະ ກຣາຟ</a:t>
            </a:r>
            <a:endParaRPr lang="lo-LA" sz="1700" dirty="0"/>
          </a:p>
        </p:txBody>
      </p:sp>
      <p:sp>
        <p:nvSpPr>
          <p:cNvPr id="21" name="Shape 16"/>
          <p:cNvSpPr/>
          <p:nvPr/>
        </p:nvSpPr>
        <p:spPr>
          <a:xfrm rot="5400000">
            <a:off x="8864879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2" name="Shape 17"/>
          <p:cNvSpPr/>
          <p:nvPr/>
        </p:nvSpPr>
        <p:spPr>
          <a:xfrm>
            <a:off x="9102623" y="1783080"/>
            <a:ext cx="2540432" cy="4114800"/>
          </a:xfrm>
          <a:prstGeom prst="roundRect">
            <a:avLst>
              <a:gd name="adj" fmla="val 4319"/>
            </a:avLst>
          </a:prstGeom>
          <a:solidFill>
            <a:schemeClr val="bg1"/>
          </a:solidFill>
          <a:ln/>
        </p:spPr>
      </p:sp>
      <p:sp>
        <p:nvSpPr>
          <p:cNvPr id="23" name="Shape 18"/>
          <p:cNvSpPr/>
          <p:nvPr/>
        </p:nvSpPr>
        <p:spPr>
          <a:xfrm>
            <a:off x="9358655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718" y="219346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58655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ບົດສະຫຼຸບ 1 ໜ້າ</a:t>
            </a:r>
            <a:endParaRPr lang="lo-LA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9358655" y="3520440"/>
            <a:ext cx="2083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ສຳລັບຜູ້ບໍລິຫານ (Word/PDF)</a:t>
            </a:r>
            <a:endParaRPr lang="lo-L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40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ຄຳສັ່ງ Workshop: ເອີ້ນໃຊ້ Skill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ຂັ້ນຕອນ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ກວດວ່າ Rules ແລະ Skill ຢູ່ໃນໂຟນເດີວຽກ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ເລືອກໂໝດ Planning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ພິມຄຳສັ່ງສັ້ນໆ ນີ້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ກວດ Walkthrough ແລະ ໄຟລ໌ໃນ output/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5354361"/>
            <a:ext cx="209215" cy="20921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15568" y="52120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ຄຳສັ່ງສັ້ນລົງ ເພາະກົດ ແລະ ຂັ້ນຕອນ ຢູ່ໃນ Rules ແລະ Skill ແລ້ວ</a:t>
            </a:r>
            <a:endParaRPr lang="lo-LA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PROMPT</a:t>
            </a:r>
            <a:endParaRPr lang="lo-LA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800" dirty="0">
                <a:solidFill>
                  <a:schemeClr val="bg1"/>
                </a:solidFill>
              </a:rPr>
              <a:t>ເຮັດລາຍງານເຄລມປະຈຳອາທິດ ຂອງອາທິດນີ້</a:t>
            </a:r>
            <a:endParaRPr lang="lo-LA" sz="18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800" dirty="0">
                <a:solidFill>
                  <a:schemeClr val="bg1"/>
                </a:solidFill>
              </a:rPr>
              <a:t> </a:t>
            </a:r>
            <a:endParaRPr lang="lo-LA" sz="18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800" dirty="0">
                <a:solidFill>
                  <a:schemeClr val="bg1"/>
                </a:solidFill>
              </a:rPr>
              <a:t>ຈາກໄຟລ໌ data/export/claims_2026-W40.csv</a:t>
            </a:r>
            <a:endParaRPr lang="lo-LA" sz="18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800" dirty="0">
                <a:solidFill>
                  <a:schemeClr val="bg1"/>
                </a:solidFill>
              </a:rPr>
              <a:t>ທຽບກັບ data/export/claims_2026-W39.csv</a:t>
            </a:r>
            <a:endParaRPr lang="lo-LA" sz="18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800" dirty="0">
                <a:solidFill>
                  <a:schemeClr val="bg1"/>
                </a:solidFill>
              </a:rPr>
              <a:t> </a:t>
            </a:r>
            <a:endParaRPr lang="lo-LA" sz="18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800" dirty="0">
                <a:solidFill>
                  <a:schemeClr val="bg1"/>
                </a:solidFill>
              </a:rPr>
              <a:t>ໃຊ້ Skill ລາຍງານເຄລມປະຈຳອາທິດ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40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ບົດສະຫຼຸບ 1 ໜ້າ ສຳລັບຜູ້ບໍລິຫານ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890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70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3 ຕົວເລກຫຼັກ</a:t>
            </a:r>
            <a:endParaRPr lang="lo-LA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ເຄລມໃໝ່, ເຄລມທີ່ປິດ ແລະ ຍອດຈ່າຍ</a:t>
            </a:r>
            <a:endParaRPr lang="lo-LA" sz="1600" dirty="0"/>
          </a:p>
        </p:txBody>
      </p:sp>
      <p:sp>
        <p:nvSpPr>
          <p:cNvPr id="9" name="Shape 6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10" name="Shape 7"/>
          <p:cNvSpPr/>
          <p:nvPr/>
        </p:nvSpPr>
        <p:spPr>
          <a:xfrm>
            <a:off x="6507328" y="2057400"/>
            <a:ext cx="548640" cy="548640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001" y="21890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07328" y="2770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ການປ່ຽນແປງ</a:t>
            </a:r>
            <a:endParaRPr lang="lo-LA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3291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ທຽບກັບອາທິດກ່ອນ ເພີ່ມ ຫຼື ຫຼຸດ ເທົ່າໃດ</a:t>
            </a:r>
            <a:endParaRPr lang="lo-LA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B9402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4750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5056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4"/>
                </a:solidFill>
              </a:rPr>
              <a:t>ເຄລມທີ່ຕ້ອງຕິດຕາມ</a:t>
            </a:r>
            <a:endParaRPr lang="lo-LA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577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ເກີນ SLA ຫຼື ຍອດສູງຜິດປົກກະຕິ</a:t>
            </a:r>
            <a:endParaRPr lang="lo-LA" sz="1600" dirty="0"/>
          </a:p>
        </p:txBody>
      </p:sp>
      <p:sp>
        <p:nvSpPr>
          <p:cNvPr id="19" name="Shape 14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accent6"/>
          </a:solidFill>
          <a:ln/>
        </p:spPr>
      </p:sp>
      <p:sp>
        <p:nvSpPr>
          <p:cNvPr id="20" name="Shape 15"/>
          <p:cNvSpPr/>
          <p:nvPr/>
        </p:nvSpPr>
        <p:spPr>
          <a:xfrm>
            <a:off x="6507328" y="4343400"/>
            <a:ext cx="548640" cy="548640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001" y="44750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07328" y="5056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1"/>
                </a:solidFill>
              </a:rPr>
              <a:t>ຂໍ້ສະເໜີ</a:t>
            </a:r>
            <a:endParaRPr lang="lo-LA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6507328" y="5577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1-2 ຂໍ້ ທີ່ຫົວໜ້າຕັດສິນໃຈໄດ້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ສະຫຼຸບ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ສະຫຼຸບມື້ທີ 1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97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0136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Rules: ກົດຂອງທີມ ທີ່ Agent ອ່ານທຸກຄັ້ງ</a:t>
            </a:r>
            <a:endParaRPr lang="lo-LA" sz="1900" dirty="0"/>
          </a:p>
        </p:txBody>
      </p:sp>
      <p:sp>
        <p:nvSpPr>
          <p:cNvPr id="7" name="Shape 4"/>
          <p:cNvSpPr/>
          <p:nvPr/>
        </p:nvSpPr>
        <p:spPr>
          <a:xfrm>
            <a:off x="1188720" y="254203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79843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7004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Skill: ວຽກປະຈຳ ທີ່ເອີ້ນໃຊ້ຊ້ຳໄດ້</a:t>
            </a:r>
            <a:endParaRPr lang="lo-LA" sz="1900" dirty="0"/>
          </a:p>
        </p:txBody>
      </p:sp>
      <p:sp>
        <p:nvSpPr>
          <p:cNvPr id="11" name="Shape 7"/>
          <p:cNvSpPr/>
          <p:nvPr/>
        </p:nvSpPr>
        <p:spPr>
          <a:xfrm>
            <a:off x="1188720" y="341071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56616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66711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3872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Comment ໃນແຜນງານ ກ່ອນອະນຸມັດ</a:t>
            </a:r>
            <a:endParaRPr lang="lo-LA" sz="1900" dirty="0"/>
          </a:p>
        </p:txBody>
      </p:sp>
      <p:sp>
        <p:nvSpPr>
          <p:cNvPr id="15" name="Shape 10"/>
          <p:cNvSpPr/>
          <p:nvPr/>
        </p:nvSpPr>
        <p:spPr>
          <a:xfrm>
            <a:off x="1188720" y="427939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53579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40740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ລາຍງານປະຈຳອາທິດ ດ້ວຍຄຳສັ່ງສັ້ນ</a:t>
            </a:r>
            <a:endParaRPr lang="lo-LA" sz="1900" dirty="0"/>
          </a:p>
        </p:txBody>
      </p:sp>
      <p:sp>
        <p:nvSpPr>
          <p:cNvPr id="19" name="Shape 13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0" name="Shape 14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ມື້ອື່ນ</a:t>
            </a:r>
            <a:endParaRPr lang="lo-LA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ອ່ານໂຟນເດີເຄລມສົມມຸດ 5 ເຄລມ ທີ່ມີ PDF ແລະ ຮູບຖ່າຍ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ແລະ ກວດວ່າເອກະສານຄົບບໍ.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68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8800" b="1" dirty="0">
                <a:solidFill>
                  <a:schemeClr val="accent2"/>
                </a:solidFill>
              </a:rPr>
              <a:t>02</a:t>
            </a:r>
            <a:endParaRPr lang="lo-LA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bg2"/>
                </a:solidFill>
              </a:rPr>
              <a:t>ອາທິດທີ 1 · ວັນອາທິດ · 2 ຊົ່ວໂມງ</a:t>
            </a:r>
            <a:endParaRPr lang="lo-LA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0175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400" b="1" dirty="0">
                <a:solidFill>
                  <a:schemeClr val="bg1"/>
                </a:solidFill>
              </a:rPr>
              <a:t>ອ່ານເອກະສານເຄລມ ແລະ ກວດຄວາມຄົບຖ້ວນ</a:t>
            </a:r>
            <a:endParaRPr lang="lo-LA" sz="3400" dirty="0"/>
          </a:p>
        </p:txBody>
      </p:sp>
      <p:sp>
        <p:nvSpPr>
          <p:cNvPr id="5" name="Shape 3"/>
          <p:cNvSpPr/>
          <p:nvPr/>
        </p:nvSpPr>
        <p:spPr>
          <a:xfrm>
            <a:off x="6492240" y="114300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1143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30 ນາທີ</a:t>
            </a:r>
            <a:endParaRPr lang="lo-L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12471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ສະກັດຂໍ້ມູນຈາກ PDF ແລະ ຮູບຖ່າຍ</a:t>
            </a:r>
            <a:endParaRPr lang="lo-LA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205740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4028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20 ນາທີ</a:t>
            </a:r>
            <a:endParaRPr lang="lo-L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22199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Checklist ເອກະສານເຄລມ</a:t>
            </a:r>
            <a:endParaRPr lang="lo-LA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315468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33756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55 ນາທີ</a:t>
            </a:r>
            <a:endParaRPr lang="lo-L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31927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Workshop: ລະບົບກວດເອກະສານ</a:t>
            </a:r>
            <a:endParaRPr lang="lo-LA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425196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434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15 ນາທີ</a:t>
            </a:r>
            <a:endParaRPr lang="lo-L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441655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ທົບທວນ ແລະ ການບ້ານ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30 ນາທີ · ສະກັດຂໍ້ມູນ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ເອກະສານແບບໃດ ທີ່ Agent ອ່ານໄດ້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PDF ທີ່ມີຂໍ້ຄວາມ</a:t>
            </a:r>
            <a:endParaRPr lang="lo-L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ອ່ານໄດ້ແມ່ນຍຳທີ່ສຸດ ເຊັ່ນ ໃບບິນຈາກລະບົບໂຮງໝໍ</a:t>
            </a:r>
            <a:endParaRPr lang="lo-LA" sz="18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547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PDF ສະແກນ</a:t>
            </a:r>
            <a:endParaRPr lang="lo-L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ອ່ານໄດ້ ແຕ່ຕ້ອງກວດຕົວເລກທຸກຄັ້ງ</a:t>
            </a:r>
            <a:endParaRPr lang="lo-LA" sz="18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125" y="22154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ຮູບຖ່າຍມືຖື</a:t>
            </a:r>
            <a:endParaRPr lang="lo-LA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ຖ່າຍໃຫ້ແຈ້ງ, ບໍ່ອຽງ, ບໍ່ມີເງົາ ແລະ ເຫັນທັງໜ້າ</a:t>
            </a:r>
            <a:endParaRPr lang="lo-LA" sz="1800" dirty="0"/>
          </a:p>
        </p:txBody>
      </p:sp>
      <p:sp>
        <p:nvSpPr>
          <p:cNvPr id="19" name="Shape 14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ລາຍມືຂຽນ ແລະ ຮູບມົວ: ໃຫ້ Agent ໝາຍວ່າ "ບໍ່ແນ່ໃຈ" ແທນການເດົາ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30 ນາທີ · ສະກັດຂໍ້ມູນ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ຈາກໃບບິນໂຮງໝໍ ເປັນແຖວໃນຕາຕະລາງ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297680" cy="4297680"/>
          </a:xfrm>
          <a:prstGeom prst="roundRect">
            <a:avLst>
              <a:gd name="adj" fmla="val 1277"/>
            </a:avLst>
          </a:prstGeom>
          <a:solidFill>
            <a:schemeClr val="bg1"/>
          </a:solidFill>
          <a:ln w="12700">
            <a:solidFill>
              <a:srgbClr val="D2DDDB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ໂຮງໝໍ ສົມມຸດ</a:t>
            </a:r>
            <a:endParaRPr lang="lo-LA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96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dirty="0">
                <a:solidFill>
                  <a:schemeClr val="accent5"/>
                </a:solidFill>
              </a:rPr>
              <a:t>ໃບບິນເລກທີ 2026-0917 · ວັນທີ 14/09/2026</a:t>
            </a:r>
            <a:endParaRPr lang="lo-LA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3657600" cy="0"/>
          </a:xfrm>
          <a:prstGeom prst="line">
            <a:avLst/>
          </a:prstGeom>
          <a:noFill/>
          <a:ln w="12700">
            <a:solidFill>
              <a:srgbClr val="D2DDD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6868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ຄ່າກວດ</a:t>
            </a:r>
            <a:endParaRPr lang="lo-LA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063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150,000</a:t>
            </a:r>
            <a:endParaRPr lang="lo-LA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ຄ່າຢາ</a:t>
            </a:r>
            <a:endParaRPr lang="lo-LA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566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420,000</a:t>
            </a:r>
            <a:endParaRPr lang="lo-LA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ຄ່າຫ້ອງ 2 ຄືນ</a:t>
            </a:r>
            <a:endParaRPr lang="lo-LA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800,000</a:t>
            </a:r>
            <a:endParaRPr lang="lo-LA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4517136"/>
            <a:ext cx="3657600" cy="0"/>
          </a:xfrm>
          <a:prstGeom prst="line">
            <a:avLst/>
          </a:prstGeom>
          <a:noFill/>
          <a:ln w="12700">
            <a:solidFill>
              <a:srgbClr val="0E2A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b="1" dirty="0">
                <a:solidFill>
                  <a:schemeClr val="tx1"/>
                </a:solidFill>
              </a:rPr>
              <a:t>ລວມ (ກີບ)</a:t>
            </a:r>
            <a:endParaRPr lang="lo-LA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4572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lo-LA" altLang="en-US" sz="1500" b="1" dirty="0">
                <a:solidFill>
                  <a:schemeClr val="tx1"/>
                </a:solidFill>
              </a:rPr>
              <a:t>1,370,000</a:t>
            </a:r>
            <a:endParaRPr lang="lo-LA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i="1" dirty="0">
                <a:solidFill>
                  <a:schemeClr val="accent5"/>
                </a:solidFill>
              </a:rPr>
              <a:t>ເອກະສານສົມມຸດ ສຳລັບຝຶກ</a:t>
            </a:r>
            <a:endParaRPr lang="lo-LA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657600"/>
            <a:ext cx="548640" cy="548640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0874" y="3789274"/>
            <a:ext cx="285293" cy="285293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783080"/>
          <a:ext cx="5882335" cy="914400"/>
        </p:xfrm>
        <a:graphic>
          <a:graphicData uri="http://schemas.openxmlformats.org/drawingml/2006/table">
            <a:tbl>
              <a:tblPr/>
              <a:tblGrid>
                <a:gridCol w="2941168"/>
                <a:gridCol w="29411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ຂໍ້ມູນ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ຄ່າທີ່ອ່ານໄດ້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ໂຮງໝໍ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ໂຮງໝໍ ສົມມຸດ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ວັນທີ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14/09/2026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ຄ່າກວດ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150,000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ຄ່າຢາ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420,000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ຄ່າຫ້ອງ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800,000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ຍອດລວມ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1,370,000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5760720" y="5257800"/>
            <a:ext cx="5882335" cy="82296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22" name="Shape 18"/>
          <p:cNvSpPr/>
          <p:nvPr/>
        </p:nvSpPr>
        <p:spPr>
          <a:xfrm>
            <a:off x="6035040" y="553212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90" y="5633070"/>
            <a:ext cx="218724" cy="21872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629400" y="5486400"/>
            <a:ext cx="4739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ກວດ: 150,000 + 420,000 + 800,000 = 1,370,000 ກົງກັບຍອດລວມໃນໃບບິນ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30 ນາທີ · ສະກັດຂໍ້ມູນ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ກວດຕົວເລກທີ່ AI ອ່ານ 3 ວິທີ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1</a:t>
            </a:r>
            <a:endParaRPr lang="lo-LA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0136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ລວມລາຍການຍ່ອຍ ຕ້ອງເທົ່າກັບຍອດລວມໃນໃບບິນ</a:t>
            </a:r>
            <a:endParaRPr lang="lo-LA" sz="1900" dirty="0"/>
          </a:p>
        </p:txBody>
      </p:sp>
      <p:sp>
        <p:nvSpPr>
          <p:cNvPr id="7" name="Shape 5"/>
          <p:cNvSpPr/>
          <p:nvPr/>
        </p:nvSpPr>
        <p:spPr>
          <a:xfrm>
            <a:off x="1188720" y="263347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88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2</a:t>
            </a:r>
            <a:endParaRPr lang="lo-LA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6148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ສັ່ງໃຫ້ອ່ານ 2 ຮອບ ແລ້ວທຽບກັນ</a:t>
            </a:r>
            <a:endParaRPr lang="lo-LA" sz="1900" dirty="0"/>
          </a:p>
        </p:txBody>
      </p:sp>
      <p:sp>
        <p:nvSpPr>
          <p:cNvPr id="11" name="Shape 9"/>
          <p:cNvSpPr/>
          <p:nvPr/>
        </p:nvSpPr>
        <p:spPr>
          <a:xfrm>
            <a:off x="1188720" y="359359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490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3</a:t>
            </a:r>
            <a:endParaRPr lang="lo-LA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2160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ຈຸດທີ່ອ່ານບໍ່ແຈ້ງ ໃຫ້ໝາຍ "ບໍ່ແນ່ໃຈ" ແລະ ໃຫ້ຄົນກວດ</a:t>
            </a:r>
            <a:endParaRPr lang="lo-LA" sz="1900" dirty="0"/>
          </a:p>
        </p:txBody>
      </p:sp>
      <p:sp>
        <p:nvSpPr>
          <p:cNvPr id="15" name="Shape 13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ເພີ່ມໃສ່ທຸກຄຳສັ່ງ</a:t>
            </a:r>
            <a:endParaRPr lang="lo-LA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"ຖ້າຕົວເລກໃດອ່ານບໍ່ແຈ້ງ ຢ່າເດົາ.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ໃຫ້ຂຽນວ່າ ບໍ່ແນ່ໃຈ ແລະ ບອກໜ້າທີ່ພົບ"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20 ນາທີ · Checklist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Checklist ເອກະສານ 4 ປະເພດເຄລມ (ຕົວຢ່າງ)</a:t>
            </a:r>
            <a:endParaRPr lang="lo-LA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375"/>
                <a:gridCol w="2773375"/>
                <a:gridCol w="2773375"/>
                <a:gridCol w="277429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ເຄລມລົດ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ເຄລມສຸຂະພາບ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ເຄລມອຸປະຕິເຫດ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ເຄລມຊັບສິນ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ແບບຟອມແຈ້ງເຄລມ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ແບບຟອມແຈ້ງເຄລມ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ແບບຟອມແຈ້ງເຄລມ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ແບບຟອມແຈ້ງເຄລມ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ສຳເນົາໃບຂັບຂີ່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ໃບບິນໂຮງໝໍ (ຕົ້ນສະບັບ)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ບົດບັນທຶກເຫດການ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ຮູບຖ່າຍຄວາມເສຍຫາຍ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ສຳເນົາໃບທະບຽນລົດ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ໃບຢັ້ງຢືນແພດ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ໃບຢັ້ງຢືນແພດ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ລາຍການຊັບສິນທີ່ເສຍຫາຍ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ບົດບັນທຶກເຫດການ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ໃບສັ່ງຢາ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ໃບບິນຄ່າປິ່ນປົວ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ໃບສະເໜີລາຄາສ້ອມແປງ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ຮູບຖ່າຍຄວາມເສຍຫາຍ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ສຳເນົາບັດປະຈຳຕົວ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ສຳເນົາບັດປະຈຳຕົວ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ບົດລາຍງານເຈົ້າໜ້າທີ່ (ຖ້າມີ)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ໃບສະເໜີລາຄາອູ່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395692"/>
            <a:ext cx="199705" cy="199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530352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ປັບຕາມເງື່ອນໄຂສັນຍາຂອງບໍລິສັດທ່ານ ແລ້ວບັນທຶກໃນ checklists/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55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Workshop: ລະບົບກວດເອກະສານເຄລມ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ວາງໄຟລ໌</a:t>
            </a:r>
            <a:endParaRPr lang="lo-LA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520440"/>
            <a:ext cx="1512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ໃສ່ໂຟນເດີ claims/ ຕາມເລກເຄລມ</a:t>
            </a:r>
            <a:endParaRPr lang="lo-LA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2591958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2829702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11" name="Shape 8"/>
          <p:cNvSpPr/>
          <p:nvPr/>
        </p:nvSpPr>
        <p:spPr>
          <a:xfrm>
            <a:off x="3085734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797" y="219346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85734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ອ່ານ ແລະ ຈັດປະເພດ</a:t>
            </a:r>
            <a:endParaRPr lang="lo-LA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085734" y="3520440"/>
            <a:ext cx="1512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ແຕ່ລະໄຟລ໌ແມ່ນເອກະສານຫຍັງ</a:t>
            </a:r>
            <a:endParaRPr lang="lo-LA" sz="16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873020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6" name="Shape 12"/>
          <p:cNvSpPr/>
          <p:nvPr/>
        </p:nvSpPr>
        <p:spPr>
          <a:xfrm>
            <a:off x="5110764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17" name="Shape 13"/>
          <p:cNvSpPr/>
          <p:nvPr/>
        </p:nvSpPr>
        <p:spPr>
          <a:xfrm>
            <a:off x="5366796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859" y="21934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66796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ປ່ຽນຊື່</a:t>
            </a:r>
            <a:endParaRPr lang="lo-LA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366796" y="3520440"/>
            <a:ext cx="1512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ຕາມມາດຕະຖານຂອງທີມ</a:t>
            </a:r>
            <a:endParaRPr lang="lo-LA" sz="1600" dirty="0"/>
          </a:p>
        </p:txBody>
      </p:sp>
      <p:sp>
        <p:nvSpPr>
          <p:cNvPr id="21" name="Shape 16"/>
          <p:cNvSpPr/>
          <p:nvPr/>
        </p:nvSpPr>
        <p:spPr>
          <a:xfrm rot="5400000">
            <a:off x="7154083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2" name="Shape 17"/>
          <p:cNvSpPr/>
          <p:nvPr/>
        </p:nvSpPr>
        <p:spPr>
          <a:xfrm>
            <a:off x="7391827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23" name="Shape 18"/>
          <p:cNvSpPr/>
          <p:nvPr/>
        </p:nvSpPr>
        <p:spPr>
          <a:xfrm>
            <a:off x="7647859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921" y="219346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47859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ທຽບ Checklist</a:t>
            </a:r>
            <a:endParaRPr lang="lo-LA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647859" y="3520440"/>
            <a:ext cx="1512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ລາຍງານເອກະສານທີ່ຂາດ</a:t>
            </a:r>
            <a:endParaRPr lang="lo-LA" sz="1600" dirty="0"/>
          </a:p>
        </p:txBody>
      </p:sp>
      <p:sp>
        <p:nvSpPr>
          <p:cNvPr id="27" name="Shape 21"/>
          <p:cNvSpPr/>
          <p:nvPr/>
        </p:nvSpPr>
        <p:spPr>
          <a:xfrm rot="5400000">
            <a:off x="9435145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8" name="Shape 22"/>
          <p:cNvSpPr/>
          <p:nvPr/>
        </p:nvSpPr>
        <p:spPr>
          <a:xfrm>
            <a:off x="9672889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29" name="Shape 23"/>
          <p:cNvSpPr/>
          <p:nvPr/>
        </p:nvSpPr>
        <p:spPr>
          <a:xfrm>
            <a:off x="9928921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984" y="2193463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928921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ຮ່າງຈົດໝາຍ</a:t>
            </a:r>
            <a:endParaRPr lang="lo-LA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928921" y="3520440"/>
            <a:ext cx="1512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ຂໍເອກະສານເພີ່ມ ໃຫ້ທ່ານກວດ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55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ມາດຕະຖານຊື່ໄຟລ໌: ຊອກງ່າຍ ກວດງ່າຍ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ກ່ອນ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IMG_20260914_0931.jpg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scan001.pdf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ໃບບິນ (1).pdf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photo.jpeg</a:t>
            </a:r>
            <a:endParaRPr lang="lo-LA" sz="190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/>
        </p:spPr>
      </p:sp>
      <p:sp>
        <p:nvSpPr>
          <p:cNvPr id="10" name="Shape 7"/>
          <p:cNvSpPr/>
          <p:nvPr/>
        </p:nvSpPr>
        <p:spPr>
          <a:xfrm>
            <a:off x="6598768" y="2103120"/>
            <a:ext cx="548640" cy="548640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41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3"/>
                </a:solidFill>
              </a:rPr>
              <a:t>ຫຼັງ</a:t>
            </a:r>
            <a:endParaRPr lang="lo-L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CLM-2026-0142_ໃບຂັບຂີ່.jpg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CLM-2026-0142_ບົດບັນທຶກເຫດການ.pdf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CLM-2026-0142_ໃບສະເໜີລາຄາອູ່.pdf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CLM-2026-0142_ຮູບຄວາມເສຍຫາຍ_01.jpg</a:t>
            </a:r>
            <a:endParaRPr lang="lo-LA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5696712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5788884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5696712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ຮູບແບບ: ເລກເຄລມ_ປະເພດເອກະສານ.ນາມສະກຸນເດີມ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55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ຄຳສັ່ງ Workshop: ກວດເອກະສານເຄລມ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ຂັ້ນຕອນ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ເລີ່ມຈາກ 1 ເຄລມ ກ່ອນ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ກວດຜົນ ແລະ Comment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ປັບຄຳສັ່ງເປັນ Skill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ແລ່ນກັບອີກ 4 ເຄລມ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5354361"/>
            <a:ext cx="209215" cy="20921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15568" y="52120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ເມື່ອຄຳສັ່ງໃຊ້ໄດ້ດີ ໃຫ້ບັນທຶກເປັນ Skill "ກວດເອກະສານເຄລມ"</a:t>
            </a:r>
            <a:endParaRPr lang="lo-LA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PROMPT</a:t>
            </a:r>
            <a:endParaRPr lang="lo-LA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ໃນໂຟນເດີ claims/CLM-2026-0142/ ມີໄຟລ໌ເອກະສານເຄລມລົດ (PDF ແລະ ຮູບຖ່າຍ).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 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1) ອ່ານທຸກໄຟລ໌ ແລະ ບອກວ່າແຕ່ລະໄຟລ໌ແມ່ນເອກະສານຫຍັງ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2) ປ່ຽນຊື່ໄຟລ໌ເປັນ ເລກເຄລມ_ປະເພດເອກະສານ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3) ທຽບກັບ checklists/ເຄລມລົດ.md ແລະ ລາຍງານເອກະສານທີ່ຂາດ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4) ສະກັດຍອດເງິນຈາກໃບສະເໜີລາຄາອູ່ ເຂົ້າ output/CLM-2026-0142.xlsx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5) ຖ້າເອກະສານບໍ່ຄົບ ໃຫ້ຮ່າງຈົດໝາຍຂໍເອກະສານເພີ່ມ ຈາກແມ່ແບບ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 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ຢ່າສົ່ງຈົດໝາຍ. ສະແດງຜົນທັງໝົດເປັນ Artifact ໃຫ້ຂ້ອຍກວດກ່ອນ.</a:t>
            </a:r>
            <a:endParaRPr lang="lo-L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15 ນາທີ · ການບ້ານ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ການບ້ານ: ກຽມຂໍ້ມູນ Final Project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1</a:t>
            </a:r>
            <a:endParaRPr lang="lo-LA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0136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ເລືອກວຽກ 1 ຢ່າງ ຈາກລາຍຊື່ໃນມື້ທີ 1</a:t>
            </a:r>
            <a:endParaRPr lang="lo-LA" sz="1900" dirty="0"/>
          </a:p>
        </p:txBody>
      </p:sp>
      <p:sp>
        <p:nvSpPr>
          <p:cNvPr id="7" name="Shape 5"/>
          <p:cNvSpPr/>
          <p:nvPr/>
        </p:nvSpPr>
        <p:spPr>
          <a:xfrm>
            <a:off x="1188720" y="254203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2</a:t>
            </a:r>
            <a:endParaRPr lang="lo-LA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7004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ເກັບໄຟລ໌ຕົວຢ່າງ 3-10 ໄຟລ໌</a:t>
            </a:r>
            <a:endParaRPr lang="lo-LA" sz="1900" dirty="0"/>
          </a:p>
        </p:txBody>
      </p:sp>
      <p:sp>
        <p:nvSpPr>
          <p:cNvPr id="11" name="Shape 9"/>
          <p:cNvSpPr/>
          <p:nvPr/>
        </p:nvSpPr>
        <p:spPr>
          <a:xfrm>
            <a:off x="1188720" y="341071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566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3</a:t>
            </a:r>
            <a:endParaRPr lang="lo-LA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3872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ປິດບັງຊື່, ເລກບັດ, ເບີໂທ ແລະ ເລກສັນຍາ</a:t>
            </a:r>
            <a:endParaRPr lang="lo-LA" sz="1900" dirty="0"/>
          </a:p>
        </p:txBody>
      </p:sp>
      <p:sp>
        <p:nvSpPr>
          <p:cNvPr id="15" name="Shape 13"/>
          <p:cNvSpPr/>
          <p:nvPr/>
        </p:nvSpPr>
        <p:spPr>
          <a:xfrm>
            <a:off x="1188720" y="427939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4</a:t>
            </a:r>
            <a:endParaRPr lang="lo-LA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40740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ຂຽນ 1 ປະໂຫຍກ: ຜົນລັບທີ່ຢາກໄດ້ແມ່ນຫຍັງ</a:t>
            </a:r>
            <a:endParaRPr lang="lo-LA" sz="1900" dirty="0"/>
          </a:p>
        </p:txBody>
      </p:sp>
      <p:sp>
        <p:nvSpPr>
          <p:cNvPr id="19" name="Shape 17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ຂໍອະນຸຍາດກ່ອນ</a:t>
            </a:r>
            <a:endParaRPr lang="lo-LA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ກວດກັບຫົວໜ້າ ຫຼື IT ວ່າອະນຸຍາດໃຫ້ໃຊ້ຂໍ້ມູນນີ້ ຫຼັງປິດບັງແລ້ວ.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68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8800" b="1" dirty="0">
                <a:solidFill>
                  <a:schemeClr val="accent2"/>
                </a:solidFill>
              </a:rPr>
              <a:t>03</a:t>
            </a:r>
            <a:endParaRPr lang="lo-LA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bg2"/>
                </a:solidFill>
              </a:rPr>
              <a:t>ອາທິດທີ 2 · ວັນເສົາ · 2 ຊົ່ວໂມງ</a:t>
            </a:r>
            <a:endParaRPr lang="lo-LA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0175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400" b="1" dirty="0">
                <a:solidFill>
                  <a:schemeClr val="bg1"/>
                </a:solidFill>
              </a:rPr>
              <a:t>ຄິດໄລ່ ແລະ ກວດຄວາມສ່ຽງຂອງເຄລມ</a:t>
            </a:r>
            <a:endParaRPr lang="lo-LA" sz="3400" dirty="0"/>
          </a:p>
        </p:txBody>
      </p:sp>
      <p:sp>
        <p:nvSpPr>
          <p:cNvPr id="5" name="Shape 3"/>
          <p:cNvSpPr/>
          <p:nvPr/>
        </p:nvSpPr>
        <p:spPr>
          <a:xfrm>
            <a:off x="6492240" y="114300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1143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30 ນາທີ</a:t>
            </a:r>
            <a:endParaRPr lang="lo-L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12471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ກົດການຄິດໄລ່ຄ່າສິນໄໝ</a:t>
            </a:r>
            <a:endParaRPr lang="lo-LA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205740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4028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40 ນາທີ</a:t>
            </a:r>
            <a:endParaRPr lang="lo-L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22199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Workshop: Claim Calculator</a:t>
            </a:r>
            <a:endParaRPr lang="lo-LA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315468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33756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40 ນາທີ</a:t>
            </a:r>
            <a:endParaRPr lang="lo-L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31927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Workshop: Red Flag Checker</a:t>
            </a:r>
            <a:endParaRPr lang="lo-LA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425196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434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10 ນາທີ</a:t>
            </a:r>
            <a:endParaRPr lang="lo-L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441655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ສະຫຼຸບ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3 · 30 ນາທີ · ກົດການຄິດໄລ່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ຂັ້ນຕອນຄິດໄລ່ຄ່າສິນໄໝທົດແທນ (ຕົວຢ່າງ)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1</a:t>
            </a:r>
            <a:endParaRPr lang="lo-L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ຄ່າເສຍຫາຍທີ່ຮ້ອງຂໍ</a:t>
            </a:r>
            <a:endParaRPr lang="lo-LA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ຍອດຕາມໃບສະເໜີລາຄາ ຫຼື ໃບບິນ</a:t>
            </a:r>
            <a:endParaRPr lang="lo-LA" sz="1600" dirty="0"/>
          </a:p>
        </p:txBody>
      </p:sp>
      <p:sp>
        <p:nvSpPr>
          <p:cNvPr id="9" name="Shape 7"/>
          <p:cNvSpPr/>
          <p:nvPr/>
        </p:nvSpPr>
        <p:spPr>
          <a:xfrm rot="5400000">
            <a:off x="2591958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0" name="Shape 8"/>
          <p:cNvSpPr/>
          <p:nvPr/>
        </p:nvSpPr>
        <p:spPr>
          <a:xfrm>
            <a:off x="2829702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3085734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8573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2</a:t>
            </a:r>
            <a:endParaRPr lang="lo-LA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85734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ຫັກຂໍ້ຍົກເວັ້ນ</a:t>
            </a:r>
            <a:endParaRPr lang="lo-LA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85734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ລາຍການທີ່ສັນຍາບໍ່ຄຸ້ມຄອງ</a:t>
            </a:r>
            <a:endParaRPr lang="lo-LA" sz="16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73020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6" name="Shape 14"/>
          <p:cNvSpPr/>
          <p:nvPr/>
        </p:nvSpPr>
        <p:spPr>
          <a:xfrm>
            <a:off x="5110764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5366796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6679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3</a:t>
            </a:r>
            <a:endParaRPr lang="lo-LA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66796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ຫັກຄ່າເສື່ອມລາຄາ</a:t>
            </a:r>
            <a:endParaRPr lang="lo-LA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66796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ຕາມອາຍຸ ແລະ ປະເພດອາໄຫຼ່</a:t>
            </a:r>
            <a:endParaRPr lang="lo-LA" sz="16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54083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2" name="Shape 20"/>
          <p:cNvSpPr/>
          <p:nvPr/>
        </p:nvSpPr>
        <p:spPr>
          <a:xfrm>
            <a:off x="7391827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23" name="Shape 21"/>
          <p:cNvSpPr/>
          <p:nvPr/>
        </p:nvSpPr>
        <p:spPr>
          <a:xfrm>
            <a:off x="7647859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47859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4</a:t>
            </a:r>
            <a:endParaRPr lang="lo-LA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647859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ຈຳກັດຕາມວົງເງິນ</a:t>
            </a:r>
            <a:endParaRPr lang="lo-LA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647859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ບໍ່ເກີນວົງເງິນຄຸ້ມຄອງ</a:t>
            </a:r>
            <a:endParaRPr lang="lo-LA" sz="16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35145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8" name="Shape 26"/>
          <p:cNvSpPr/>
          <p:nvPr/>
        </p:nvSpPr>
        <p:spPr>
          <a:xfrm>
            <a:off x="9672889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9928921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28921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5</a:t>
            </a:r>
            <a:endParaRPr lang="lo-LA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928921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ຫັກ Deductible</a:t>
            </a:r>
            <a:endParaRPr lang="lo-LA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928921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ຄ່າເສຍຫາຍສ່ວນທຳອິດ</a:t>
            </a:r>
            <a:endParaRPr lang="lo-LA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ລຳດັບ ແລະ ອັດຕາ ຕ້ອງອີງຕາມເງື່ອນໄຂສັນຍາຂອງບໍລິສັດທ່ານ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3 · 30 ນາທີ · ກົດການຄິດໄລ່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ຕົວຢ່າງ: ເຄລມລົດ CLM-2026-0142</a:t>
            </a:r>
            <a:endParaRPr lang="lo-LA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2194560"/>
                <a:gridCol w="222473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ຂັ້ນຕອນ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ລາຍລະອຽດ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ປ່ຽນແປງ (ກີບ)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ຄົງເຫຼືອ (ກີບ)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ຮ້ອງຂໍ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ໃບສະເໜີລາຄາອູ່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8,450,000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ຂໍ້ຍົກເວັ້ນ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ອຸປະກອນເສີມທີ່ບໍ່ໄດ້ແຈ້ງ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-450,000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8,000,000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ຄ່າເສື່ອມ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10% ຂອງຄ່າອາໄຫຼ່ 5,000,000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-500,000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7,500,000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ວົງເງິນ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ວົງເງິນ 50,000,000 (ບໍ່ເກີນ)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7,500,000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Deductible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ຄ່າເສຍຫາຍສ່ວນທຳອິດ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-1,000,000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6,500,000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ຍອດທີ່ຄວນຈ່າຍ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6,500,000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87568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779740"/>
            <a:ext cx="199705" cy="199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568756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ຕົວເລກສົມມຸດ ສຳລັບຝຶກ. ທຸກແຖວຕ້ອງມີເຫດຜົນ ທີ່ຄົນອ່ານແລ້ວກວດໄດ້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3 · 40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Workshop: Claim Calculator ທີ່ອະທິບາຍໄດ້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97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0136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ປ້ອນ: ລາຍການຄ່າເສຍຫາຍ, ອາຍຸລົດ, ວົງເງິນ, Deductible</a:t>
            </a:r>
            <a:endParaRPr lang="lo-LA" sz="1900" dirty="0"/>
          </a:p>
        </p:txBody>
      </p:sp>
      <p:sp>
        <p:nvSpPr>
          <p:cNvPr id="7" name="Shape 4"/>
          <p:cNvSpPr/>
          <p:nvPr/>
        </p:nvSpPr>
        <p:spPr>
          <a:xfrm>
            <a:off x="1188720" y="254203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79843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7004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ສະແດງ: ຕາຕະລາງທຸກຂັ້ນ ຄືໜ້າກ່ອນ</a:t>
            </a:r>
            <a:endParaRPr lang="lo-LA" sz="1900" dirty="0"/>
          </a:p>
        </p:txBody>
      </p:sp>
      <p:sp>
        <p:nvSpPr>
          <p:cNvPr id="11" name="Shape 7"/>
          <p:cNvSpPr/>
          <p:nvPr/>
        </p:nvSpPr>
        <p:spPr>
          <a:xfrm>
            <a:off x="1188720" y="341071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56616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66711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3872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ທົດສອບ: 10 ກໍລະນີ ທີ່ຮູ້ຄຳຕອບ ຕ້ອງຖືກທັງ 10</a:t>
            </a:r>
            <a:endParaRPr lang="lo-LA" sz="1900" dirty="0"/>
          </a:p>
        </p:txBody>
      </p:sp>
      <p:sp>
        <p:nvSpPr>
          <p:cNvPr id="15" name="Shape 10"/>
          <p:cNvSpPr/>
          <p:nvPr/>
        </p:nvSpPr>
        <p:spPr>
          <a:xfrm>
            <a:off x="1188720" y="427939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53579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40740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ບັນທຶກ: ສູດ ແລະ ອັດຕາ ໄວ້ໃນໄຟລ໌ຕັ້ງຄ່າ ແກ້ງ່າຍ</a:t>
            </a:r>
            <a:endParaRPr lang="lo-LA" sz="1900" dirty="0"/>
          </a:p>
        </p:txBody>
      </p:sp>
      <p:sp>
        <p:nvSpPr>
          <p:cNvPr id="19" name="Shape 13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0" name="Shape 14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ກົດຂອງເຮົາ</a:t>
            </a:r>
            <a:endParaRPr lang="lo-LA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ເຄື່ອງມືທີ່ບໍ່ຜ່ານກໍລະນີທົດສອບ ຫ້າມນຳໄປໃຊ້ກັບເຄລມຈິງ.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3 · 40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ຄຳສັ່ງ Workshop: Claim Calculator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ຂັ້ນຕອນ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ເປີດ config/ ແລະ tests/ ເບິ່ງກ່ອນ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ວາງຄຳສັ່ງ ແລະ ກວດແຜນງານ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ອ່ານຜົນທົດສອບ 10 ກໍລະນີ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ລອງປ່ຽນອັດຕາ ແລ້ວແລ່ນໃໝ່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5354361"/>
            <a:ext cx="209215" cy="20921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15568" y="52120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ຖ້າກໍລະນີໃດຜິດ ໃຫ້ຖາມ Agent ວ່າຄິດແນວໃດ ກ່ອນສັ່ງແກ້</a:t>
            </a:r>
            <a:endParaRPr lang="lo-LA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PROMPT</a:t>
            </a:r>
            <a:endParaRPr lang="lo-LA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ສ້າງເຄື່ອງມືຄິດໄລ່ຄ່າສິນໄໝເຄລມລົດ ເປັນໄຟລ໌ Excel ຫຼື ໜ້າເວັບງ່າຍໆ.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ອັດຕາ ແລະ ເງື່ອນໄຂ ອ່ານຈາກ config/ເງື່ອນໄຂສັນຍາ.xlsx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ລຳດັບ: ຫັກຂໍ້ຍົກເວັ້ນ, ຫັກຄ່າເສື່ອມ, ຈຳກັດວົງເງິນ, ຫັກ Deductible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ສະແດງຕາຕະລາງທຸກຂັ້ນ ພ້ອມຍອດຄົງເຫຼືອ.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ທົດສອບກັບ tests/10_ກໍລະນີ.xlsx ແລະ ລາຍງານວ່າຖືກຈັກກໍລະນີ.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ຖ້າກໍລະນີໃດບໍ່ຖືກ ໃຫ້ອະທິບາຍເຫດຜົນ.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ຫ້າມແກ້ຄຳຕອບໃນໄຟລ໌ທົດສອບ.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3 · 40 ນາທີ · Red Flags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Red Flags: ສັນຍານທີ່ຄວນກວດເພີ່ມ</a:t>
            </a:r>
            <a:endParaRPr lang="lo-LA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6209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ສັນຍານ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ເງື່ອນໄຂຕົວຢ່າງ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ເປັນຫຍັງຕ້ອງກວດ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ເຄລມຊ້ຳ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ເລກສັນຍາດຽວກັນ ແລະ ວັນເກີດເຫດຫ່າງກັນບໍ່ເກີນ 3 ມື້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ອາດຍື່ນເຄລມເຫດການດຽວ 2 ຄັ້ງ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ເຄລມໄວ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ເກີດເຫດພາຍໃນ 30 ມື້ ຫຼັງເລີ່ມສັນຍາ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ອາດຊື້ປະກັນ ຫຼັງເກີດເຫດແລ້ວ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ຍອດຜິດປົກກະຕິ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ສູງກວ່າຄ່າສະເລ່ຍຂອງປະເພດດຽວກັນ ເກີນ 3 ເທົ່າ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ອາດມີລາຍການເກີນຈິງ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ຄູ່ຮ່ວມຖີ່ຜິດປົກກະຕິ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ອູ່ ຫຼື ໂຮງໝໍດຽວກັນ ເກີນ 20% ຂອງເຄລມໃນເດືອນ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ອາດມີການຮ່ວມມືທີ່ບໍ່ຖືກຕ້ອງ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487132"/>
            <a:ext cx="199705" cy="199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539496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ເງື່ອນໄຂເປັນຕົວຢ່າງ. ປັບຕາມນະໂຍບາຍ ແລະ ຂໍ້ມູນຂອງອົງກອນທ່ານ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3 · 40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ຄຳສັ່ງ Workshop: Red Flag Checker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ຂັ້ນຕອນ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ກວດວ່າມີ checklists/red_flags.md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ວາງຄຳສັ່ງ ແລະ ກວດແຜນງານ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ເປີດ output/red_flags.xlsx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ສຸ່ມກວດ 3 ເຄລມ ດ້ວຍມື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5354361"/>
            <a:ext cx="209215" cy="20921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15568" y="52120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ຂໍ້ມູນ 300 ເຄລມ ມີ Red Flags ທີ່ຜູ້ສອນຝັງໄວ້. Agent ພົບຄົບບໍ?</a:t>
            </a:r>
            <a:endParaRPr lang="lo-LA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PROMPT</a:t>
            </a:r>
            <a:endParaRPr lang="lo-LA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ຈາກ data/claims_300.xlsx ໃຫ້ກວດ Red Flags 4 ຂໍ້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ຕາມ checklists/red_flags.md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ສ້າງ output/red_flags.xlsx ທີ່ມີ: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- ເລກເຄລມ, ສັນຍານທີ່ພົບ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- ຫຼັກຖານ (ຕົວເລກ ຫຼື ເຄລມທີ່ກ່ຽວຂ້ອງ)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- ຄະແນນຄວາມສ່ຽງ ຕາມຈຳນວນສັນຍານ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ຮຽງຈາກຄະແນນສູງໄປຕ່ຳ.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ຫ້າມຂຽນວ່າ "ສໍ້ໂກງ". ໃຫ້ຂຽນວ່າ "ຄວນກວດເພີ່ມ".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3 · 10 ນາທີ · ສະຫຼຸບ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AI ຊີ້ຈຸດສົງໄສ, ຄົນຕັດສິນ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accent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1"/>
                </a:solidFill>
              </a:rPr>
              <a:t>Agent ເຮັດ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ຊອກເຄລມທີ່ເຂົ້າເງື່ອນໄຂ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ສະແດງຫຼັກຖານ ແລະ ເຫດຜົນ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ຈັດລຳດັບຕາມຄະແນນ</a:t>
            </a:r>
            <a:endParaRPr lang="lo-LA" sz="190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tx1"/>
          </a:solidFill>
          <a:ln/>
        </p:spPr>
      </p:sp>
      <p:sp>
        <p:nvSpPr>
          <p:cNvPr id="10" name="Shape 7"/>
          <p:cNvSpPr/>
          <p:nvPr/>
        </p:nvSpPr>
        <p:spPr>
          <a:xfrm>
            <a:off x="6598768" y="2103120"/>
            <a:ext cx="548640" cy="54864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41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2"/>
                </a:solidFill>
              </a:rPr>
              <a:t>ຄົນເຮັດ</a:t>
            </a:r>
            <a:endParaRPr lang="lo-L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bg1"/>
                </a:solidFill>
              </a:rPr>
              <a:t>ກວດຫຼັກຖານ ແລະ ສອບຖາມເພີ່ມ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bg1"/>
                </a:solidFill>
              </a:rPr>
              <a:t>ຕັດສິນອະນຸມັດ ຫຼື ປະຕິເສດ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bg1"/>
                </a:solidFill>
              </a:rPr>
              <a:t>ບັນທຶກເຫດຜົນ ແລະ ປັບກົດໃຫ້ດີຂຶ້ນ</a:t>
            </a:r>
            <a:endParaRPr lang="lo-LA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5696712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5788884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5696712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Red Flag ບໍ່ແມ່ນຫຼັກຖານການສໍ້ໂກງ. ເຄລມທີ່ຖືກໝາຍ ອາດເປັນເຄລມປົກກະຕິ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68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8800" b="1" dirty="0">
                <a:solidFill>
                  <a:schemeClr val="accent2"/>
                </a:solidFill>
              </a:rPr>
              <a:t>04</a:t>
            </a:r>
            <a:endParaRPr lang="lo-LA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bg2"/>
                </a:solidFill>
              </a:rPr>
              <a:t>ອາທິດທີ 2 · ວັນອາທິດ · 2 ຊົ່ວໂມງ</a:t>
            </a:r>
            <a:endParaRPr lang="lo-LA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0175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400" b="1" dirty="0">
                <a:solidFill>
                  <a:schemeClr val="bg1"/>
                </a:solidFill>
              </a:rPr>
              <a:t>Dashboard, ວຽກແລ່ນເອງ ແລະ Final Project</a:t>
            </a:r>
            <a:endParaRPr lang="lo-LA" sz="3400" dirty="0"/>
          </a:p>
        </p:txBody>
      </p:sp>
      <p:sp>
        <p:nvSpPr>
          <p:cNvPr id="5" name="Shape 3"/>
          <p:cNvSpPr/>
          <p:nvPr/>
        </p:nvSpPr>
        <p:spPr>
          <a:xfrm>
            <a:off x="6492240" y="114300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1143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30 ນາທີ</a:t>
            </a:r>
            <a:endParaRPr lang="lo-L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12471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Workshop: Dashboard ຕິດຕາມເຄລມ</a:t>
            </a:r>
            <a:endParaRPr lang="lo-LA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205740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4028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20 ນາທີ</a:t>
            </a:r>
            <a:endParaRPr lang="lo-L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22199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Agent Manager ແລະ ວຽກແລ່ນເອງ</a:t>
            </a:r>
            <a:endParaRPr lang="lo-LA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315468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33756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50 ນາທີ</a:t>
            </a:r>
            <a:endParaRPr lang="lo-L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31927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Final Project</a:t>
            </a:r>
            <a:endParaRPr lang="lo-LA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425196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434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20 ນາທີ</a:t>
            </a:r>
            <a:endParaRPr lang="lo-L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441655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ນຳສະເໜີ ແລະ ປິດຫຼັກສູດ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4 · 30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Workshop: Dashboard ຕິດຕາມເຄລມ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47672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ເຄລມເປີດຢູ່</a:t>
            </a:r>
            <a:endParaRPr lang="lo-LA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3400" b="1" dirty="0">
                <a:solidFill>
                  <a:schemeClr val="tx1"/>
                </a:solidFill>
              </a:rPr>
              <a:t>64</a:t>
            </a:r>
            <a:endParaRPr lang="lo-LA" sz="3400" dirty="0"/>
          </a:p>
        </p:txBody>
      </p:sp>
      <p:sp>
        <p:nvSpPr>
          <p:cNvPr id="7" name="Shape 5"/>
          <p:cNvSpPr/>
          <p:nvPr/>
        </p:nvSpPr>
        <p:spPr>
          <a:xfrm>
            <a:off x="3390824" y="1783080"/>
            <a:ext cx="2567864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65144" y="1947672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ເກີນ SLA</a:t>
            </a:r>
            <a:endParaRPr lang="lo-LA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65144" y="22860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3400" b="1" dirty="0">
                <a:solidFill>
                  <a:schemeClr val="accent4"/>
                </a:solidFill>
              </a:rPr>
              <a:t>6</a:t>
            </a:r>
            <a:endParaRPr lang="lo-LA" sz="34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67864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7328" y="1947672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ເຄລມທັງໝົດ</a:t>
            </a:r>
            <a:endParaRPr lang="lo-LA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2860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3400" b="1" dirty="0">
                <a:solidFill>
                  <a:schemeClr val="tx1"/>
                </a:solidFill>
              </a:rPr>
              <a:t>100</a:t>
            </a:r>
            <a:endParaRPr lang="lo-LA" sz="3400" dirty="0"/>
          </a:p>
        </p:txBody>
      </p:sp>
      <p:sp>
        <p:nvSpPr>
          <p:cNvPr id="13" name="Shape 11"/>
          <p:cNvSpPr/>
          <p:nvPr/>
        </p:nvSpPr>
        <p:spPr>
          <a:xfrm>
            <a:off x="9075191" y="1783080"/>
            <a:ext cx="2567864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49511" y="1947672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ມື້ປິດເຄລມສະເລ່ຍ</a:t>
            </a:r>
            <a:endParaRPr lang="lo-LA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349511" y="22860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3400" b="1" dirty="0">
                <a:solidFill>
                  <a:schemeClr val="tx1"/>
                </a:solidFill>
              </a:rPr>
              <a:t>9.4</a:t>
            </a:r>
            <a:endParaRPr lang="lo-LA" sz="34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658368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/>
        </p:spPr>
      </p:sp>
      <p:graphicFrame>
        <p:nvGraphicFramePr>
          <p:cNvPr id="17" name="Chart 0" descr=""/>
          <p:cNvGraphicFramePr/>
          <p:nvPr/>
        </p:nvGraphicFramePr>
        <p:xfrm>
          <a:off x="685800" y="3383280"/>
          <a:ext cx="6309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7406640" y="3291840"/>
            <a:ext cx="4236415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80960" y="347472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b="1" dirty="0">
                <a:solidFill>
                  <a:schemeClr val="tx1"/>
                </a:solidFill>
              </a:rPr>
              <a:t>ເຄລມເກີນ SLA (ຄ້າງດົນສຸດ)</a:t>
            </a:r>
            <a:endParaRPr lang="lo-LA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388620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CLM-2026-0098</a:t>
            </a:r>
            <a:endParaRPr lang="lo-L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416052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dirty="0">
                <a:solidFill>
                  <a:schemeClr val="accent5"/>
                </a:solidFill>
              </a:rPr>
              <a:t>ລົດ · ລໍຖ້າເອກະສານ</a:t>
            </a:r>
            <a:endParaRPr lang="lo-LA" sz="1300" dirty="0"/>
          </a:p>
        </p:txBody>
      </p:sp>
      <p:sp>
        <p:nvSpPr>
          <p:cNvPr id="22" name="Shape 19"/>
          <p:cNvSpPr/>
          <p:nvPr/>
        </p:nvSpPr>
        <p:spPr>
          <a:xfrm>
            <a:off x="10454335" y="3959352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454335" y="3959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bg1"/>
                </a:solidFill>
              </a:rPr>
              <a:t>23 ມື້</a:t>
            </a:r>
            <a:endParaRPr lang="lo-LA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445312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CLM-2026-0103</a:t>
            </a:r>
            <a:endParaRPr lang="lo-LA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0" y="472744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dirty="0">
                <a:solidFill>
                  <a:schemeClr val="accent5"/>
                </a:solidFill>
              </a:rPr>
              <a:t>ຊັບສິນ · ກຳລັງພິຈາລະນາ</a:t>
            </a:r>
            <a:endParaRPr lang="lo-LA" sz="1300" dirty="0"/>
          </a:p>
        </p:txBody>
      </p:sp>
      <p:sp>
        <p:nvSpPr>
          <p:cNvPr id="26" name="Shape 23"/>
          <p:cNvSpPr/>
          <p:nvPr/>
        </p:nvSpPr>
        <p:spPr>
          <a:xfrm>
            <a:off x="10454335" y="452628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454335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bg1"/>
                </a:solidFill>
              </a:rPr>
              <a:t>19 ມື້</a:t>
            </a:r>
            <a:endParaRPr lang="lo-LA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80960" y="502005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CLM-2026-0117</a:t>
            </a:r>
            <a:endParaRPr lang="lo-LA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0" y="529437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dirty="0">
                <a:solidFill>
                  <a:schemeClr val="accent5"/>
                </a:solidFill>
              </a:rPr>
              <a:t>ລົດ · ລໍຖ້າເອກະສານ</a:t>
            </a:r>
            <a:endParaRPr lang="lo-LA" sz="1300" dirty="0"/>
          </a:p>
        </p:txBody>
      </p:sp>
      <p:sp>
        <p:nvSpPr>
          <p:cNvPr id="30" name="Shape 27"/>
          <p:cNvSpPr/>
          <p:nvPr/>
        </p:nvSpPr>
        <p:spPr>
          <a:xfrm>
            <a:off x="10454335" y="509320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454335" y="5093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bg1"/>
                </a:solidFill>
              </a:rPr>
              <a:t>17 ມື້</a:t>
            </a:r>
            <a:endParaRPr lang="lo-LA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680960" y="5733288"/>
            <a:ext cx="3687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100" i="1" dirty="0">
                <a:solidFill>
                  <a:schemeClr val="accent5"/>
                </a:solidFill>
              </a:rPr>
              <a:t>ຕົວຢ່າງໜ້າຈໍ · ຂໍ້ມູນສົມມຸດ</a:t>
            </a:r>
            <a:endParaRPr lang="lo-LA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4 · 30 ນາທີ · Workshop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ຄຳສັ່ງ Workshop: Dashboard ແລະ ທົດສອບດ້ວຍ Browser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ຂັ້ນຕອນ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ວາງຄຳສັ່ງ ແລະ ກວດແຜນງານ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ອະນຸຍາດໃຫ້ Agent ເປີດ Browser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ເບິ່ງພາບໜ້າຈໍໃນ Walkthrough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ທຽບ 4 ຕົວເລກ ກັບ Excel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5354361"/>
            <a:ext cx="209215" cy="20921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15568" y="52120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Browser Agent ກົດ ແລະ ອ່ານໜ້າເວັບເອງ ເພື່ອກວດວ່າໃຊ້ໄດ້ແທ້</a:t>
            </a:r>
            <a:endParaRPr lang="lo-LA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PROMPT</a:t>
            </a:r>
            <a:endParaRPr lang="lo-LA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ສ້າງໜ້າເວັບ Dashboard ຕິດຕາມເຄລມ ຈາກ output/claim_register.xlsx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ສະແດງ: ເຄລມເປີດ, ເຄລມເກີນ SLA, ເຄລມທັງໝົດ, ມື້ປິດເຄລມສະເລ່ຍ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ກຣາຟແທ່ງ ຈຳນວນເຄລມຕາມປະເພດ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ຕາຕະລາງເຄລມເກີນ SLA ຮຽງຈາກຄ້າງດົນສຸດ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ເປີດໃນ Browser ແລະ ທົດສອບວ່າຕົວເລກກົງກັບ Excel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ຖ່າຍພາບໜ້າຈໍໃສ່ Walkthrough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4 · 20 ນາທີ · ວຽກອັດຕະໂນມັດ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Agent Manager: ຫຼາຍ Agent ເຮັດວຽກພ້ອມກັນ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788920"/>
            <a:ext cx="640080" cy="64008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339" y="29425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lo-LA" altLang="en-US" sz="1700" b="1" dirty="0">
                <a:solidFill>
                  <a:schemeClr val="accent2"/>
                </a:solidFill>
              </a:rPr>
              <a:t>ທ່ານ</a:t>
            </a:r>
            <a:endParaRPr lang="lo-LA" sz="1700" dirty="0"/>
          </a:p>
        </p:txBody>
      </p:sp>
      <p:sp>
        <p:nvSpPr>
          <p:cNvPr id="8" name="Shape 5"/>
          <p:cNvSpPr/>
          <p:nvPr/>
        </p:nvSpPr>
        <p:spPr>
          <a:xfrm flipV="1">
            <a:off x="2468880" y="3383280"/>
            <a:ext cx="731520" cy="-1143000"/>
          </a:xfrm>
          <a:prstGeom prst="line">
            <a:avLst/>
          </a:prstGeom>
          <a:noFill/>
          <a:ln w="15875">
            <a:solidFill>
              <a:srgbClr val="4C6265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200400" y="1783080"/>
            <a:ext cx="8442655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0" y="1965960"/>
            <a:ext cx="548640" cy="548640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74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911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Agent 1</a:t>
            </a:r>
            <a:endParaRPr lang="lo-LA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160520" y="2203704"/>
            <a:ext cx="5150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b="1" dirty="0">
                <a:solidFill>
                  <a:schemeClr val="tx1"/>
                </a:solidFill>
              </a:rPr>
              <a:t>ລາຍງານເຄລມປະຈຳອາທິດ</a:t>
            </a:r>
            <a:endParaRPr lang="lo-LA" sz="1700" dirty="0"/>
          </a:p>
        </p:txBody>
      </p:sp>
      <p:sp>
        <p:nvSpPr>
          <p:cNvPr id="14" name="Shape 10"/>
          <p:cNvSpPr/>
          <p:nvPr/>
        </p:nvSpPr>
        <p:spPr>
          <a:xfrm>
            <a:off x="9494215" y="2057400"/>
            <a:ext cx="192024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494215" y="2057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ສຳເລັດ</a:t>
            </a:r>
            <a:endParaRPr lang="lo-LA" sz="1300" dirty="0"/>
          </a:p>
        </p:txBody>
      </p:sp>
      <p:sp>
        <p:nvSpPr>
          <p:cNvPr id="16" name="Shape 12"/>
          <p:cNvSpPr/>
          <p:nvPr/>
        </p:nvSpPr>
        <p:spPr>
          <a:xfrm flipV="1">
            <a:off x="2468880" y="3383280"/>
            <a:ext cx="731520" cy="-45720"/>
          </a:xfrm>
          <a:prstGeom prst="line">
            <a:avLst/>
          </a:prstGeom>
          <a:noFill/>
          <a:ln w="15875">
            <a:solidFill>
              <a:srgbClr val="4C6265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3200400" y="2880360"/>
            <a:ext cx="8442655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429000" y="3063240"/>
            <a:ext cx="548640" cy="548640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674" y="319491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160520" y="3008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Agent 2</a:t>
            </a:r>
            <a:endParaRPr lang="lo-LA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160520" y="3300984"/>
            <a:ext cx="5150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b="1" dirty="0">
                <a:solidFill>
                  <a:schemeClr val="tx1"/>
                </a:solidFill>
              </a:rPr>
              <a:t>ກວດເອກະສານ 5 ເຄລມໃໝ່</a:t>
            </a:r>
            <a:endParaRPr lang="lo-LA" sz="1700" dirty="0"/>
          </a:p>
        </p:txBody>
      </p:sp>
      <p:sp>
        <p:nvSpPr>
          <p:cNvPr id="22" name="Shape 17"/>
          <p:cNvSpPr/>
          <p:nvPr/>
        </p:nvSpPr>
        <p:spPr>
          <a:xfrm>
            <a:off x="9494215" y="3154680"/>
            <a:ext cx="1920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494215" y="3154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ກຳລັງເຮັດ</a:t>
            </a:r>
            <a:endParaRPr lang="lo-LA" sz="1300" dirty="0"/>
          </a:p>
        </p:txBody>
      </p:sp>
      <p:sp>
        <p:nvSpPr>
          <p:cNvPr id="24" name="Shape 19"/>
          <p:cNvSpPr/>
          <p:nvPr/>
        </p:nvSpPr>
        <p:spPr>
          <a:xfrm>
            <a:off x="2468880" y="3383280"/>
            <a:ext cx="731520" cy="1051560"/>
          </a:xfrm>
          <a:prstGeom prst="line">
            <a:avLst/>
          </a:prstGeom>
          <a:noFill/>
          <a:ln w="15875">
            <a:solidFill>
              <a:srgbClr val="4C6265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3200400" y="3977640"/>
            <a:ext cx="8442655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6" name="Shape 21"/>
          <p:cNvSpPr/>
          <p:nvPr/>
        </p:nvSpPr>
        <p:spPr>
          <a:xfrm>
            <a:off x="3429000" y="4160520"/>
            <a:ext cx="548640" cy="548640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674" y="4292194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160520" y="41056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Agent 3</a:t>
            </a:r>
            <a:endParaRPr lang="lo-LA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4160520" y="4398264"/>
            <a:ext cx="5150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b="1" dirty="0">
                <a:solidFill>
                  <a:schemeClr val="tx1"/>
                </a:solidFill>
              </a:rPr>
              <a:t>ອັບເດດ Dashboard</a:t>
            </a:r>
            <a:endParaRPr lang="lo-LA" sz="1700" dirty="0"/>
          </a:p>
        </p:txBody>
      </p:sp>
      <p:sp>
        <p:nvSpPr>
          <p:cNvPr id="30" name="Shape 24"/>
          <p:cNvSpPr/>
          <p:nvPr/>
        </p:nvSpPr>
        <p:spPr>
          <a:xfrm>
            <a:off x="9494215" y="4251960"/>
            <a:ext cx="192024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494215" y="4251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ລໍຖ້າທ່ານກວດ</a:t>
            </a:r>
            <a:endParaRPr lang="lo-LA" sz="1300" dirty="0"/>
          </a:p>
        </p:txBody>
      </p:sp>
      <p:sp>
        <p:nvSpPr>
          <p:cNvPr id="32" name="Shape 26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ທ່ານເປັນຫົວໜ້າທີມ: ມອບວຽກ, ຕິດຕາມ ແລະ ກວດຜົນ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4 · 20 ນາທີ · ວຽກອັດຕະໂນມັດ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Scheduled Tasks: ລາຍງານແລ່ນເອງທຸກເຊົ້າວັນຈັນ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57400"/>
            <a:ext cx="1443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07:30</a:t>
            </a:r>
            <a:endParaRPr lang="lo-LA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ເລີ່ມເອງ</a:t>
            </a:r>
            <a:endParaRPr lang="lo-LA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ຕາມເວລາທີ່ຕັ້ງໄວ້</a:t>
            </a:r>
            <a:endParaRPr lang="lo-LA" sz="1700" dirty="0"/>
          </a:p>
        </p:txBody>
      </p:sp>
      <p:sp>
        <p:nvSpPr>
          <p:cNvPr id="10" name="Shape 7"/>
          <p:cNvSpPr/>
          <p:nvPr/>
        </p:nvSpPr>
        <p:spPr>
          <a:xfrm rot="5400000">
            <a:off x="3162224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1" name="Shape 8"/>
          <p:cNvSpPr/>
          <p:nvPr/>
        </p:nvSpPr>
        <p:spPr>
          <a:xfrm>
            <a:off x="3399968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6000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63" y="219346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14368" y="2057400"/>
            <a:ext cx="1443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07:31</a:t>
            </a:r>
            <a:endParaRPr lang="lo-LA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656000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ອ່ານ Export</a:t>
            </a:r>
            <a:endParaRPr lang="lo-LA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3656000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ໄຟລ໌ລ່າສຸດໃນ data/export/</a:t>
            </a:r>
            <a:endParaRPr lang="lo-LA" sz="1700" dirty="0"/>
          </a:p>
        </p:txBody>
      </p:sp>
      <p:sp>
        <p:nvSpPr>
          <p:cNvPr id="17" name="Shape 13"/>
          <p:cNvSpPr/>
          <p:nvPr/>
        </p:nvSpPr>
        <p:spPr>
          <a:xfrm rot="5400000">
            <a:off x="6013552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8" name="Shape 14"/>
          <p:cNvSpPr/>
          <p:nvPr/>
        </p:nvSpPr>
        <p:spPr>
          <a:xfrm>
            <a:off x="6251296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6507328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390" y="219346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165696" y="2057400"/>
            <a:ext cx="1443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07:35</a:t>
            </a:r>
            <a:endParaRPr lang="lo-LA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507328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ສ້າງລາຍງານ</a:t>
            </a:r>
            <a:endParaRPr lang="lo-LA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ດ້ວຍ Skill ລາຍງານເຄລມປະຈຳອາທິດ</a:t>
            </a:r>
            <a:endParaRPr lang="lo-LA" sz="1700" dirty="0"/>
          </a:p>
        </p:txBody>
      </p:sp>
      <p:sp>
        <p:nvSpPr>
          <p:cNvPr id="24" name="Shape 19"/>
          <p:cNvSpPr/>
          <p:nvPr/>
        </p:nvSpPr>
        <p:spPr>
          <a:xfrm rot="5400000">
            <a:off x="8864879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5" name="Shape 20"/>
          <p:cNvSpPr/>
          <p:nvPr/>
        </p:nvSpPr>
        <p:spPr>
          <a:xfrm>
            <a:off x="9102623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26" name="Shape 21"/>
          <p:cNvSpPr/>
          <p:nvPr/>
        </p:nvSpPr>
        <p:spPr>
          <a:xfrm>
            <a:off x="9358655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718" y="2193463"/>
            <a:ext cx="294803" cy="29480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017023" y="2057400"/>
            <a:ext cx="1443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08:00</a:t>
            </a:r>
            <a:endParaRPr lang="lo-LA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9358655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ລໍຖ້າທ່ານກວດ</a:t>
            </a:r>
            <a:endParaRPr lang="lo-LA" sz="2100" dirty="0"/>
          </a:p>
        </p:txBody>
      </p:sp>
      <p:sp>
        <p:nvSpPr>
          <p:cNvPr id="30" name="Text 24"/>
          <p:cNvSpPr txBox="1"/>
          <p:nvPr/>
        </p:nvSpPr>
        <p:spPr>
          <a:xfrm>
            <a:off x="9358655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ລາຍງານພ້ອມ ກ່ອນເລີ່ມວຽກ</a:t>
            </a:r>
            <a:endParaRPr lang="lo-LA" sz="1700" dirty="0"/>
          </a:p>
        </p:txBody>
      </p:sp>
      <p:sp>
        <p:nvSpPr>
          <p:cNvPr id="31" name="Shape 25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ກວດເງື່ອນໄຂການແລ່ນໃນເວີຊັນຂອງທ່ານ ເຊັ່ນ ຕ້ອງເປີດຄອມໄວ້ ຫຼື ບໍ່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4 · 20 ນາທີ · ວຽກອັດຕະໂນມັດ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MCP: ເຊື່ອມ Agent ກັບເຄື່ອງມືອື່ນ (ພາບລວມ)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Google Sheets</a:t>
            </a:r>
            <a:endParaRPr lang="lo-L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ອ່ານ ແລະ ຂຽນຕາຕະລາງເຄລມ ທີ່ທີມໃຊ້ຮ່ວມກັນ</a:t>
            </a:r>
            <a:endParaRPr lang="lo-LA" sz="18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547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Google Drive</a:t>
            </a:r>
            <a:endParaRPr lang="lo-L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ເອົາເອກະສານເຄລມ ຈາກໂຟນເດີຂອງທີມ</a:t>
            </a:r>
            <a:endParaRPr lang="lo-LA" sz="18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057400"/>
            <a:ext cx="658368" cy="658368"/>
          </a:xfrm>
          <a:prstGeom prst="ellipse">
            <a:avLst/>
          </a:prstGeom>
          <a:solidFill>
            <a:srgbClr val="B9402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125" y="22154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accent4"/>
                </a:solidFill>
              </a:rPr>
              <a:t>ລະບົບຂອງອົງກອນ</a:t>
            </a:r>
            <a:endParaRPr lang="lo-LA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ເຊື່ອມຖານຂໍ້ມູນ ຕ້ອງຜ່ານການອະນຸມັດຂອງ IT</a:t>
            </a:r>
            <a:endParaRPr lang="lo-LA" sz="1800" dirty="0"/>
          </a:p>
        </p:txBody>
      </p:sp>
      <p:sp>
        <p:nvSpPr>
          <p:cNvPr id="19" name="Shape 14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ໃຫ້ສິດໜ້ອຍທີ່ສຸດທີ່ພຽງພໍ: ອ່ານຢ່າງດຽວ ຖ້າບໍ່ຈຳເປັນຕ້ອງຂຽນ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4 · 50 ນາທີ · Final Project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Final Project: ແກ້ບັນຫາຈິງໃນວຽກຂອງທ່ານ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1</a:t>
            </a:r>
            <a:endParaRPr lang="lo-L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ບັນຫາ</a:t>
            </a:r>
            <a:endParaRPr lang="lo-LA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ວຽກໃດ, ເຮັດຖີ່ປານໃດ, ໃຊ້ເວລາເທົ່າໃດ</a:t>
            </a:r>
            <a:endParaRPr lang="lo-LA" sz="1600" dirty="0"/>
          </a:p>
        </p:txBody>
      </p:sp>
      <p:sp>
        <p:nvSpPr>
          <p:cNvPr id="9" name="Shape 7"/>
          <p:cNvSpPr/>
          <p:nvPr/>
        </p:nvSpPr>
        <p:spPr>
          <a:xfrm rot="5400000">
            <a:off x="2591958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0" name="Shape 8"/>
          <p:cNvSpPr/>
          <p:nvPr/>
        </p:nvSpPr>
        <p:spPr>
          <a:xfrm>
            <a:off x="2829702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11" name="Shape 9"/>
          <p:cNvSpPr/>
          <p:nvPr/>
        </p:nvSpPr>
        <p:spPr>
          <a:xfrm>
            <a:off x="3085734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8573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2</a:t>
            </a:r>
            <a:endParaRPr lang="lo-LA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85734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ຂໍ້ມູນ</a:t>
            </a:r>
            <a:endParaRPr lang="lo-LA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85734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ໄຟລ໌ທີ່ປິດບັງແລ້ວ</a:t>
            </a:r>
            <a:endParaRPr lang="lo-LA" sz="16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73020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6" name="Shape 14"/>
          <p:cNvSpPr/>
          <p:nvPr/>
        </p:nvSpPr>
        <p:spPr>
          <a:xfrm>
            <a:off x="5110764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17" name="Shape 15"/>
          <p:cNvSpPr/>
          <p:nvPr/>
        </p:nvSpPr>
        <p:spPr>
          <a:xfrm>
            <a:off x="5366796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6679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3</a:t>
            </a:r>
            <a:endParaRPr lang="lo-LA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66796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Rules ແລະ Skill</a:t>
            </a:r>
            <a:endParaRPr lang="lo-LA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66796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ກົດ ແລະ ຂັ້ນຕອນຂອງວຽກນີ້</a:t>
            </a:r>
            <a:endParaRPr lang="lo-LA" sz="16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54083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2" name="Shape 20"/>
          <p:cNvSpPr/>
          <p:nvPr/>
        </p:nvSpPr>
        <p:spPr>
          <a:xfrm>
            <a:off x="7391827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23" name="Shape 21"/>
          <p:cNvSpPr/>
          <p:nvPr/>
        </p:nvSpPr>
        <p:spPr>
          <a:xfrm>
            <a:off x="7647859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47859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4</a:t>
            </a:r>
            <a:endParaRPr lang="lo-LA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647859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ສ້າງ ແລະ ທົດສອບ</a:t>
            </a:r>
            <a:endParaRPr lang="lo-LA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647859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ກັບຕົວຢ່າງທີ່ຮູ້ຄຳຕອບ</a:t>
            </a:r>
            <a:endParaRPr lang="lo-LA" sz="16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35145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8" name="Shape 26"/>
          <p:cNvSpPr/>
          <p:nvPr/>
        </p:nvSpPr>
        <p:spPr>
          <a:xfrm>
            <a:off x="9672889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1"/>
          </a:solidFill>
          <a:ln/>
        </p:spPr>
      </p:sp>
      <p:sp>
        <p:nvSpPr>
          <p:cNvPr id="29" name="Shape 27"/>
          <p:cNvSpPr/>
          <p:nvPr/>
        </p:nvSpPr>
        <p:spPr>
          <a:xfrm>
            <a:off x="9928921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28921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5</a:t>
            </a:r>
            <a:endParaRPr lang="lo-LA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928921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ກຽມນຳສະເໜີ</a:t>
            </a:r>
            <a:endParaRPr lang="lo-LA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928921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2-3 ນາທີ</a:t>
            </a:r>
            <a:endParaRPr lang="lo-LA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ຜູ້ສອນຍ່າງຊ່ວຍແບບ 1:1. ຍົກມືເມື່ອຕິດ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4 · 20 ນາທີ · ນຳສະເໜີ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ນຳສະເໜີ 3 ນາທີ: ຕອບ 4 ຄຳຖາມ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700" b="1" dirty="0">
                <a:solidFill>
                  <a:schemeClr val="bg1"/>
                </a:solidFill>
              </a:rPr>
              <a:t>1</a:t>
            </a:r>
            <a:endParaRPr lang="lo-LA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70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ບັນຫາແມ່ນຫຍັງ?</a:t>
            </a:r>
            <a:endParaRPr lang="lo-LA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ວຽກໃດ ແລະ ເສຍເວລາເທົ່າໃດ</a:t>
            </a:r>
            <a:endParaRPr lang="lo-LA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6507328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732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700" b="1" dirty="0">
                <a:solidFill>
                  <a:schemeClr val="bg1"/>
                </a:solidFill>
              </a:rPr>
              <a:t>2</a:t>
            </a:r>
            <a:endParaRPr lang="lo-LA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770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ສາທິດ</a:t>
            </a:r>
            <a:endParaRPr lang="lo-LA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3291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ສັ່ງ Agent ໃຫ້ເບິ່ງ 1 ຮອບ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700" b="1" dirty="0">
                <a:solidFill>
                  <a:schemeClr val="bg1"/>
                </a:solidFill>
              </a:rPr>
              <a:t>3</a:t>
            </a:r>
            <a:endParaRPr lang="lo-LA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56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ປະຫຍັດໄດ້ເທົ່າໃດ?</a:t>
            </a:r>
            <a:endParaRPr lang="lo-LA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77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ປະມານການເວລາ ກ່ອນ ແລະ ຫຼັງ</a:t>
            </a:r>
            <a:endParaRPr lang="lo-LA" sz="1600" dirty="0"/>
          </a:p>
        </p:txBody>
      </p:sp>
      <p:sp>
        <p:nvSpPr>
          <p:cNvPr id="19" name="Shape 17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6507328" y="4343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7328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700" b="1" dirty="0">
                <a:solidFill>
                  <a:schemeClr val="bg1"/>
                </a:solidFill>
              </a:rPr>
              <a:t>4</a:t>
            </a:r>
            <a:endParaRPr lang="lo-LA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07328" y="50566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ຂັ້ນຕໍ່ໄປ?</a:t>
            </a:r>
            <a:endParaRPr lang="lo-LA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507328" y="55778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ຕ້ອງການຫຍັງ ເພື່ອໃຊ້ຈິງໃນທີມ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ນຳໄປໃຊ້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ແຜນ 30 ມື້ ນຳໄປໃຊ້ໃນອົງກອນ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0432" cy="411480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1</a:t>
            </a:r>
            <a:endParaRPr lang="lo-L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1443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ອາທິດທີ 1</a:t>
            </a:r>
            <a:endParaRPr lang="lo-LA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ເລືອກ 1 ວຽກ</a:t>
            </a:r>
            <a:endParaRPr lang="lo-L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20440"/>
            <a:ext cx="2083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ວຽກທີ່ຊ້ຳ, ມີກົດຊັດ ແລະ ຄວາມສ່ຽງຕ່ຳ</a:t>
            </a:r>
            <a:endParaRPr lang="lo-LA" sz="1700" dirty="0"/>
          </a:p>
        </p:txBody>
      </p:sp>
      <p:sp>
        <p:nvSpPr>
          <p:cNvPr id="10" name="Shape 8"/>
          <p:cNvSpPr/>
          <p:nvPr/>
        </p:nvSpPr>
        <p:spPr>
          <a:xfrm rot="5400000">
            <a:off x="3162224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1" name="Shape 9"/>
          <p:cNvSpPr/>
          <p:nvPr/>
        </p:nvSpPr>
        <p:spPr>
          <a:xfrm>
            <a:off x="3399968" y="1783080"/>
            <a:ext cx="2540432" cy="411480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6000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60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2</a:t>
            </a:r>
            <a:endParaRPr lang="lo-LA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14368" y="2057400"/>
            <a:ext cx="1443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ອາທິດທີ 2</a:t>
            </a:r>
            <a:endParaRPr lang="lo-L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6000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ທົດລອງຄູ່ກັນ</a:t>
            </a:r>
            <a:endParaRPr lang="lo-LA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3656000" y="3520440"/>
            <a:ext cx="2083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ເຮັດທັງວິທີເກົ່າ ແລະ Agent ແລ້ວທຽບຜົນ</a:t>
            </a:r>
            <a:endParaRPr lang="lo-LA" sz="17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13552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8" name="Shape 16"/>
          <p:cNvSpPr/>
          <p:nvPr/>
        </p:nvSpPr>
        <p:spPr>
          <a:xfrm>
            <a:off x="6251296" y="1783080"/>
            <a:ext cx="2540432" cy="411480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7328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0732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3</a:t>
            </a:r>
            <a:endParaRPr lang="lo-LA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65696" y="2057400"/>
            <a:ext cx="1443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ອາທິດທີ 3</a:t>
            </a:r>
            <a:endParaRPr lang="lo-LA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07328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ວັດຜົນ</a:t>
            </a:r>
            <a:endParaRPr lang="lo-LA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507328" y="3520440"/>
            <a:ext cx="2083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ເວລາທີ່ປະຫຍັດ ແລະ ຂໍ້ຜິດພາດທີ່ພົບ</a:t>
            </a:r>
            <a:endParaRPr lang="lo-LA" sz="1700" dirty="0"/>
          </a:p>
        </p:txBody>
      </p:sp>
      <p:sp>
        <p:nvSpPr>
          <p:cNvPr id="24" name="Shape 22"/>
          <p:cNvSpPr/>
          <p:nvPr/>
        </p:nvSpPr>
        <p:spPr>
          <a:xfrm rot="5400000">
            <a:off x="8864879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5" name="Shape 23"/>
          <p:cNvSpPr/>
          <p:nvPr/>
        </p:nvSpPr>
        <p:spPr>
          <a:xfrm>
            <a:off x="9102623" y="1783080"/>
            <a:ext cx="2540432" cy="411480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26" name="Shape 24"/>
          <p:cNvSpPr/>
          <p:nvPr/>
        </p:nvSpPr>
        <p:spPr>
          <a:xfrm>
            <a:off x="9358655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58655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4</a:t>
            </a:r>
            <a:endParaRPr lang="lo-LA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017023" y="2057400"/>
            <a:ext cx="1443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ອາທິດທີ 4</a:t>
            </a:r>
            <a:endParaRPr lang="lo-LA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358655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ແບ່ງປັນທີມ</a:t>
            </a:r>
            <a:endParaRPr lang="lo-LA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9358655" y="3520440"/>
            <a:ext cx="2083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ສົ່ງ Rules ແລະ Skill ໃຫ້ທີມ ພ້ອມຂໍອະນຸມັດ IT</a:t>
            </a:r>
            <a:endParaRPr lang="lo-L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ສະຫຼຸບຫຼັກສູດ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ສະຫຼຸບ: 5 ລະບົບ ທີ່ທ່ານສ້າງເອງ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97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01368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ລາຍງານເຄລມປະຈຳອາທິດ ກົດດຽວ ຫຼື ແລ່ນເອງ</a:t>
            </a:r>
            <a:endParaRPr lang="lo-LA" sz="1900" dirty="0"/>
          </a:p>
        </p:txBody>
      </p:sp>
      <p:sp>
        <p:nvSpPr>
          <p:cNvPr id="7" name="Shape 4"/>
          <p:cNvSpPr/>
          <p:nvPr/>
        </p:nvSpPr>
        <p:spPr>
          <a:xfrm>
            <a:off x="1188720" y="2532888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88336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789286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60904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ລະບົບກວດເອກະສານເຄລມ ແລະ ຮ່າງຈົດໝາຍ</a:t>
            </a:r>
            <a:endParaRPr lang="lo-LA" sz="1900" dirty="0"/>
          </a:p>
        </p:txBody>
      </p:sp>
      <p:sp>
        <p:nvSpPr>
          <p:cNvPr id="11" name="Shape 7"/>
          <p:cNvSpPr/>
          <p:nvPr/>
        </p:nvSpPr>
        <p:spPr>
          <a:xfrm>
            <a:off x="1188720" y="3392424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547872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648822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20440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Claim Calculator ທີ່ຜ່ານ 10 ກໍລະນີທົດສອບ</a:t>
            </a:r>
            <a:endParaRPr lang="lo-LA" sz="1900" dirty="0"/>
          </a:p>
        </p:txBody>
      </p:sp>
      <p:sp>
        <p:nvSpPr>
          <p:cNvPr id="15" name="Shape 10"/>
          <p:cNvSpPr/>
          <p:nvPr/>
        </p:nvSpPr>
        <p:spPr>
          <a:xfrm>
            <a:off x="1188720" y="4251960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407408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508358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379976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Red Flag Checker ທີ່ສະແດງຫຼັກຖານ</a:t>
            </a:r>
            <a:endParaRPr lang="lo-LA" sz="1900" dirty="0"/>
          </a:p>
        </p:txBody>
      </p:sp>
      <p:sp>
        <p:nvSpPr>
          <p:cNvPr id="19" name="Shape 13"/>
          <p:cNvSpPr/>
          <p:nvPr/>
        </p:nvSpPr>
        <p:spPr>
          <a:xfrm>
            <a:off x="1188720" y="5111496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48640" y="5266944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5367894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5239512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Dashboard ຕິດຕາມເຄລມ ແລະ SLA</a:t>
            </a:r>
            <a:endParaRPr lang="lo-LA" sz="1900" dirty="0"/>
          </a:p>
        </p:txBody>
      </p:sp>
      <p:sp>
        <p:nvSpPr>
          <p:cNvPr id="23" name="Shape 16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4" name="Shape 17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ຫຼັງຮຽນ</a:t>
            </a:r>
            <a:endParaRPr lang="lo-LA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ກຸ່ມຖາມ-ຕອບ 60 ມື້.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ປຶກສາ 1:1 ອອນລາຍ 30 ນາທີ: ນັດເວລາກັບຜູ້ສອນ.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b="1" spc="100" kern="0" dirty="0">
                <a:solidFill>
                  <a:schemeClr val="bg2"/>
                </a:solidFill>
              </a:rPr>
              <a:t>ຫຼັກສູດ Google Antigravity</a:t>
            </a:r>
            <a:endParaRPr lang="lo-LA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4600" b="1" dirty="0">
                <a:solidFill>
                  <a:schemeClr val="bg1"/>
                </a:solidFill>
              </a:rPr>
              <a:t>ຂອບໃຈ</a:t>
            </a:r>
            <a:endParaRPr lang="lo-LA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dirty="0">
                <a:solidFill>
                  <a:schemeClr val="accent2"/>
                </a:solidFill>
              </a:rPr>
              <a:t>ຖາມ-ຕອບ ແລະ ມອບໃບຢັ້ງຢືນ</a:t>
            </a:r>
            <a:endParaRPr lang="lo-LA" sz="22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5212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bg2"/>
                </a:solidFill>
              </a:rPr>
              <a:t>ກຸ່ມຖາມ-ຕອບ: [ລິ້ງກຸ່ມ] · ໂທ / WhatsApp: [020 XXXX XXXX]</a:t>
            </a:r>
            <a:endParaRPr lang="lo-LA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914400"/>
            <a:ext cx="4297680" cy="5029200"/>
          </a:xfrm>
          <a:prstGeom prst="ellipse">
            <a:avLst/>
          </a:prstGeom>
          <a:noFill/>
          <a:ln w="19050">
            <a:solidFill>
              <a:srgbClr val="25474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rot="-240000">
            <a:off x="7589520" y="14173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240000">
            <a:off x="781812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ໃບຢັ້ງຢືນ</a:t>
            </a:r>
            <a:endParaRPr lang="lo-LA" sz="1200" dirty="0"/>
          </a:p>
        </p:txBody>
      </p:sp>
      <p:sp>
        <p:nvSpPr>
          <p:cNvPr id="9" name="Text 7"/>
          <p:cNvSpPr txBox="1"/>
          <p:nvPr/>
        </p:nvSpPr>
        <p:spPr>
          <a:xfrm rot="-240000">
            <a:off x="78181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Antigravity Advanced</a:t>
            </a:r>
            <a:endParaRPr lang="lo-LA" sz="1400" dirty="0"/>
          </a:p>
        </p:txBody>
      </p:sp>
      <p:sp>
        <p:nvSpPr>
          <p:cNvPr id="10" name="Shape 8"/>
          <p:cNvSpPr/>
          <p:nvPr/>
        </p:nvSpPr>
        <p:spPr>
          <a:xfrm rot="180000">
            <a:off x="8229600" y="27889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180000">
            <a:off x="845820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5 ລະບົບ + 1 ໂປຣເຈັກ</a:t>
            </a:r>
            <a:endParaRPr lang="lo-LA" sz="1200" dirty="0"/>
          </a:p>
        </p:txBody>
      </p:sp>
      <p:sp>
        <p:nvSpPr>
          <p:cNvPr id="12" name="Text 10"/>
          <p:cNvSpPr txBox="1"/>
          <p:nvPr/>
        </p:nvSpPr>
        <p:spPr>
          <a:xfrm rot="180000">
            <a:off x="84582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ສ້າງເອງ ສຳເລັດ</a:t>
            </a:r>
            <a:endParaRPr lang="lo-LA" sz="1400" dirty="0"/>
          </a:p>
        </p:txBody>
      </p:sp>
      <p:sp>
        <p:nvSpPr>
          <p:cNvPr id="13" name="Shape 11"/>
          <p:cNvSpPr/>
          <p:nvPr/>
        </p:nvSpPr>
        <p:spPr>
          <a:xfrm rot="-90000">
            <a:off x="7772400" y="41605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 rot="-90000">
            <a:off x="8001000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ປຶກສາ 1:1</a:t>
            </a:r>
            <a:endParaRPr lang="lo-LA" sz="1200" dirty="0"/>
          </a:p>
        </p:txBody>
      </p:sp>
      <p:sp>
        <p:nvSpPr>
          <p:cNvPr id="15" name="Text 13"/>
          <p:cNvSpPr txBox="1"/>
          <p:nvPr/>
        </p:nvSpPr>
        <p:spPr>
          <a:xfrm rot="-90000">
            <a:off x="80010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ນັດໄດ້ພາຍໃນ 60 ມື້</a:t>
            </a:r>
            <a:endParaRPr lang="lo-LA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igravity Course">
  <a:themeElements>
    <a:clrScheme name="Antigravity Course">
      <a:dk1>
        <a:srgbClr val="0E2A2F"/>
      </a:dk1>
      <a:lt1>
        <a:srgbClr val="FFFFFF"/>
      </a:lt1>
      <a:dk2>
        <a:srgbClr val="25474D"/>
      </a:dk2>
      <a:lt2>
        <a:srgbClr val="EEF2F1"/>
      </a:lt2>
      <a:accent1>
        <a:srgbClr val="1F55D6"/>
      </a:accent1>
      <a:accent2>
        <a:srgbClr val="FFD54A"/>
      </a:accent2>
      <a:accent3>
        <a:srgbClr val="137A55"/>
      </a:accent3>
      <a:accent4>
        <a:srgbClr val="B9402C"/>
      </a:accent4>
      <a:accent5>
        <a:srgbClr val="4C6265"/>
      </a:accent5>
      <a:accent6>
        <a:srgbClr val="E3EBFC"/>
      </a:accent6>
      <a:hlink>
        <a:srgbClr val="1F55D6"/>
      </a:hlink>
      <a:folHlink>
        <a:srgbClr val="4C6265"/>
      </a:folHlink>
    </a:clrScheme>
    <a:fontScheme name="Antigravity Course">
      <a:majorFont>
        <a:latin typeface="Noto Sans Lao Looped"/>
        <a:ea typeface=""/>
        <a:cs typeface="Noto Sans Lao Loope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Noto Sans Lao Looped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Lao"/>
        <a:ea typeface=""/>
        <a:cs typeface="Noto Sans Lao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Noto Sans Lao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Antigravity Advanced</dc:title>
  <dc:subject>PptxGenJS Presentation</dc:subject>
  <dc:creator>Antigravity Workshop</dc:creator>
  <cp:lastModifiedBy>Antigravity Workshop</cp:lastModifiedBy>
  <cp:revision>1</cp:revision>
  <dcterms:created xsi:type="dcterms:W3CDTF">2026-10-05T09:49:04Z</dcterms:created>
  <dcterms:modified xsi:type="dcterms:W3CDTF">2026-10-05T09:49:04Z</dcterms:modified>
</cp:coreProperties>
</file>