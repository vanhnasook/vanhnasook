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1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ເປີດຫຼັກສູດ" id="{e4e04489-0294-597a-25c7-11a7fcbaeb3d}">
          <p14:sldIdLst>
            <p14:sldId id="256"/>
            <p14:sldId id="257"/>
            <p14:sldId id="258"/>
            <p14:sldId id="259"/>
          </p14:sldIdLst>
        </p14:section>
        <p14:section name="ມື້ທີ 1 · ວັນເສົາ" id="{c493b453-f4e2-1ca9-4133-18d224fbd612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ມື້ທີ 2 · ວັນອາທິດ" id="{782842bc-a5e8-dfa2-8abe-b3a73b6f7674}">
          <p14:sldIdLst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0E2A2F"/>
                </a:solidFill>
                <a:latin typeface="+mn-lt"/>
              </a:defRPr>
            </a:pPr>
            <a:r>
              <a:rPr sz="1500" b="0" i="0" u="none" strike="noStrike">
                <a:solidFill>
                  <a:srgbClr val="0E2A2F"/>
                </a:solidFill>
                <a:latin typeface="+mn-lt"/>
              </a:rPr>
              <a:t>ຈຳນວນເຄລມຕາມປະເພດ (ຂໍ້ມູນສົມມຸດ)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ເຄລມ</c:v>
                </c:pt>
              </c:strCache>
            </c:strRef>
          </c:tx>
          <c:spPr>
            <a:solidFill>
              <a:srgbClr val="1F55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500" u="none">
                    <a:solidFill>
                      <a:srgbClr val="0E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ລົດ</c:v>
                  </c:pt>
                  <c:pt idx="1">
                    <c:v>ສຸຂະພາບ</c:v>
                  </c:pt>
                  <c:pt idx="2">
                    <c:v>ອຸປະຕິເຫດ</c:v>
                  </c:pt>
                  <c:pt idx="3">
                    <c:v>ຊັບສິນ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18</c:v>
                </c:pt>
                <c:pt idx="3">
                  <c:v>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500" u="none">
                  <a:solidFill>
                    <a:srgbClr val="0E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4C626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ຕ້ອນຮັບຜູ້ຮຽນ ແລະ ແນະນຳຕົວຜູ້ສອນ. ໃຫ້ຜູ້ຮຽນແນະນຳຕົວຄົນລະ 30 ວິນາທີ: ຊື່, ພະແນກ ແລະ ວຽກທີ່ກິນເວລາທີ່ສຸດໃນແຕ່ລະອາທິດ. ຈົດວຽກເຫຼົ່ານັ້ນໄວ້ເທິງກະດານ ເພື່ອຍົກເປັນຕົວຢ່າງຕະຫຼອດ 2 ມື້.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ອະທິບາຍໂຄງສ້າງ: ທຸກຫົວຂໍ້ມີທິດສະດີສັ້ນ ແລ້ວລົງມືເຮັດ. ແຖບສີເຫຼືອງແມ່ນ Workshop ເຊິ່ງກິນເວລາເກີນເຄິ່ງໜຶ່ງຂອງຫຼັກສູດ. ຂໍໃຫ້ຜູ້ຮຽນເປີດໂນ໊ດບຸກຄ້າງໄວ້ ແລະ ສຽບສາຍສາກ.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ບອກເປົ້າໝາຍໃຫ້ຊັດ: ທຸກຄົນຈະອອກຈາກຫ້ອງພ້ອມໄຟລ໌ 3 ຊິ້ນທີ່ສ້າງເອງ. ທັກສະທີ່ສຳຄັນກວ່າໄຟລ໌ ແມ່ນການສັ່ງງານໃຫ້ຊັດ ແລະ ການກວດຜົນກ່ອນໃຊ້.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ຍ່າງກວດໂນ໊ດບຸກແຕ່ລະຄົນ. ຂໍ້ທີ 5 ໃຫ້ທຸກຄົນຕົກລົງຮ່ວມກັນ: ໃນຫ້ອງຮຽນໃຊ້ຂໍ້ມູນສົມມຸດທີ່ຜູ້ສອນກຽມໃຫ້ເທົ່ານັ້ນ.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ມື້ນີ້ມີ 4 ຫົວຂໍ້. ເປົ້າໝາຍທ້າຍມື້: ທຸກຄົນໄດ້ສັ່ງ Agent ເຮັດວຽກຈິງ 1 ວຽກ ແລະ ກວດຜົນເປັນ.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ຖາມຜູ້ຮຽນວ່າໃຜເຄີຍໃຊ້ ChatGPT ຫຼື Gemini. ອະທິບາຍວ່າ Chatbot ໃຫ້ຄຳແນະນຳ ແຕ່ Agent ລົງມືເຮັດໃນຄອມຂອງເຮົາ. ຍົກຕົວຢ່າງຈາກວຽກທີ່ຜູ້ຮຽນບອກຕອນແນະນຳຕົວ.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ເນັ້ນວ່າ Agent ບໍ່ໄດ້ເຮັດຫຍັງລັບໆ. ທຸກຂັ້ນມີບ່ອນໃຫ້ຄົນກວດ. ຖ້າຜົນບໍ່ຖືກ ເຮົາບອກໃຫ້ແກ້ ຄືກັບສັ່ງງານພະນັກງານໃໝ່.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ໃຫ້ຜູ້ຮຽນຈັດວຽກທີ່ຂຽນໄວ້ເທິງກະດານ ເຂົ້າ 2 ຖັນນີ້. ວຽກໃນຖັນຊ້າຍ ຈະເປັນໂຈດຝຶກຂອງເຂົາເຈົ້າ.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ສາທິດໃນໜ້າຈໍໃຫຍ່. ຢຸດໃຫ້ຜູ້ຮຽນເບິ່ງແຜນງານກ່ອນກົດອະນຸມັດ. ເມື່ອ Agent ຂໍອະນຸຍາດແລ່ນຄຳສັ່ງ ໃຫ້ອ່ານຄຳສັ່ງນັ້ນອອກສຽງ. ສຸດທ້າຍເປີດໄຟລ໌ຜົນລັບໃຫ້ເບິ່ງ.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ເຮັດພ້ອມກັນທີລະຂັ້ນ. ໃຫ້ຜູ້ທີ່ຕິດຕັ້ງແລ້ວ ຊ່ວຍໝູ່ຂ້າງໆ. ກວດຊື່ເມນູໃນເວີຊັນປັດຈຸບັນກ່ອນສອນ ເພາະ Google ອັບເດດເລື້ອຍ.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ໃຫ້ທຸກຄົນເປີດໂຟນເດີ Antigravity-Course ໃນ Antigravity ແລະ ເບິ່ງວ່າມີໂຟນເດີຍ່ອຍຄົບ. ນີ້ແມ່ນນິໄສທີ່ສຳຄັນທີ່ສຸດຂອງມື້: ຕົ້ນສະບັບຢູ່ data/ ຜົນລັບຢູ່ output/.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ເປີດໜ້າ Settings ໃຫ້ເບິ່ງ ແລະ ຕັ້ງພ້ອມກັນ. ອະທິບາຍວ່າຕອນເລີ່ມຕົ້ນ ໃຫ້ຕັ້ງແບບລະມັດລະວັງໄວ້ກ່ອນ. ເມື່ອຄຸ້ນເຄີຍແລ້ວ ຈຶ່ງຄ່ອຍຜ່ອນໃຫ້ Agent ເຮັດເອງຫຼາຍຂຶ້ນ.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ຊີ້ແຕ່ລະຈຸດໃນໂປຣແກຣມຈິງ. ໃຫ້ຜູ້ຮຽນລອງກົດເປີດ Agent Manager ແລ້ວກັບຄືນ. ມື້ນີ້ເຮົາໃຊ້ແຖບ Agent ເປັນຫຼັກ. Agent Manager ຈະໃຊ້ຫຼາຍໃນຫຼັກສູດ Advanced.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ເປີດ Artifacts ຈາກການສາທິດກ່ອນໜ້ານີ້ໃຫ້ເບິ່ງທັງ 3 ແບບ. ສອນວິທີ Comment ໃນແຜນງານ ເຊັ່ນ ເລືອກຂໍ້ຄວາມ ແລ້ວພິມວ່າ "ບໍ່ຕ້ອງລວມເດືອນທັນວາ".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ສະແດງບ່ອນປ່ຽນໂໝດໃນແຖບ Agent. ໃນຫ້ອງຮຽນນີ້ ທຸກ Workshop ໃຊ້ Planning ເພື່ອໃຫ້ຜູ້ຮຽນຝຶກອ່ານແຜນງານ.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ໃຫ້ຜູ້ຮຽນເປີດໄຟລ໌ໃນ data/ ເບິ່ງກ່ອນ 3 ນາທີ ແລະ ຊອກບັນຫາເອງ. ຖາມວ່າຖ້າເຮັດດ້ວຍມື ຈະໃຊ້ເວລາເທົ່າໃດ. ຈົດຄຳຕອບໄວ້ ເພື່ອທຽບຫຼັງ Workshop.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ໃຫ້ເວລາ 25 ນາທີ. ຍ່າງຊ່ວຍຜູ້ທີ່ຕິດ. ຖ້າ Agent ຖາມຄຳຖາມກັບ ໃຫ້ຜູ້ຮຽນຕອບເອງ ຢ່າຕອບແທນ. ຜູ້ທີ່ສຳເລັດໄວ ໃຫ້ລອງສັ່ງແກ້ຕໍ່ຕາມສະໄລຖັດໄປ.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ໃຫ້ທຸກຄົນກວດ 4 ຂໍ້ນີ້ດ້ວຍຕົນເອງ. ຖາມ 2-3 ຄົນວ່າພົບຫຍັງຜິດບໍ. ເນັ້ນວ່າການກວດ ແມ່ນສ່ວນໜຶ່ງຂອງວຽກ ບໍ່ແມ່ນວຽກເພີ່ມ.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ທົບທວນ 4 ຂໍ້ ໂດຍຖາມຜູ້ຮຽນໃຫ້ຕອບ. ອະທິບາຍການບ້ານ ແລະ ເຕືອນວ່າຫ້າມໃຊ້ຂໍ້ມູນລູກຄ້າຈິງ.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ເລີ່ມດ້ວຍການບ້ານ: ໃຫ້ 2-3 ຄົນເລົ່າສິ່ງທີ່ລອງ ຄົນລະ 1 ນາທີ. ມື້ນີ້ເຮົາໃຊ້ທັກສະມື້ວານ ກັບວຽກເຄລມໂດຍກົງ.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ອະທິບາຍທີລະຂໍ້ ໂດຍໃຊ້ຕົວຢ່າງໃນກ່ອງລຸ່ມ. ຂໍ້ທີ 5 ສຳຄັນທີ່ສຸດ ເພາະມັນບັງຄັບໃຫ້ Agent ກວດຕົວເອງ ແລະ ໃຫ້ເຮົາມີວິທີກວດຜົນ.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ອ່ານຄຳສັ່ງທັງສອງອອກສຽງ. ໃຫ້ຜູ້ຮຽນຊີ້ວ່າຄຳສັ່ງ "ຫຼັງ" ມີຂໍ້ໃດແດ່ຂອງສູດ 5 ຂໍ້.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ໃຫ້ເວລາ 5 ນາທີ ແລ້ວໃຫ້ 2 ຄົນອ່ານຄຳຕອບ. ຕົວຢ່າງຄຳຕອບ: ເຈົ້າເປັນຜູ້ຊ່ວຍພະແນກເຄລມ. ໃຊ້ແມ່ແບບ templates/ຂໍເອກະສານເພີ່ມ.docx ແລະ ຂໍ້ມູນໃນ output/claim_register.xlsx ສ້າງຈົດໝາຍໃຫ້ທຸກເຄລມທີ່ສະຖານະ "ລໍຖ້າເອກະສານ". ບັນທຶກເປັນ PDF ໃນ output/letters/. ຈຳນວນຈົດໝາຍຕ້ອງເທົ່າກັບຈຳນວນເຄລມທີ່ລໍຖ້າເອກະສານ.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ໃຫ້ຜູ້ຮຽນເປີດ data/claims_sample.xlsx ແລະ ເບິ່ງຖັນຕ່າງໆ 3 ນາທີ. ຖາມວ່າ ເຄລມໃດຄວນນັບມື້ຄ້າງ ແລະ ເຄລມໃດບໍ່ຄວນນັບ. ຄຳຕອບ: ບໍ່ນັບເຄລມທີ່ປິດແລ້ວ.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ໃຫ້ເວລາ 25 ນາທີ. ສັງເກດວ່າຄຳສັ່ງນີ້ໃຊ້ສູດ 5 ຂໍ້ຄົບ. ຖ້າ Agent ຄິດໄລ່ວັນທີຜິດ ເພາະຮູບແບບວັນທີ ໃຫ້ຜູ້ຮຽນ Comment ບອກວ່າວັນທີເປັນ ວວ/ດດ/ປປປປ.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ສະແດງຜົນທີ່ຄາດຫວັງຈາກຂໍ້ມູນສົມມຸດ. ຜົນຂອງຜູ້ຮຽນອາດຕ່າງກັນເລັກນ້ອຍ ຖ້າວັນທີ "ວັນນີ້" ຕ່າງກັນ. ຈຳນວນລວມຕ້ອງເປັນ 100 ສະເໝີ.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ຖ້າແກ້ເອງໃນ Excel ຄັ້ງໜ້າ Agent ກໍຈະຜິດຄືເກົ່າ. ການບອກໃຫ້ Agent ແກ້ ເຮັດໃຫ້ຄຳສັ່ງດີຂຶ້ນ ແລະ ໃຊ້ຊ້ຳໄດ້.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ເປີດແມ່ແບບໃນ templates/ ໃຫ້ເບິ່ງ. ອະທິບາຍວ່າຊ່ອງໃນວົງເລັບ {} ແມ່ນບ່ອນທີ່ Agent ຈະເຕີມຂໍ້ມູນ. ແນວຄິດດຽວກັບ Mail Merge ໃນ Word ແຕ່ສັ່ງດ້ວຍພາສາປົກກະຕິ.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ໃຫ້ເວລາ 25 ນາທີ. ຖ້າ PDF ສະແດງພາສາລາວບໍ່ຖືກ ໃຫ້ສັ່ງ Agent ໃຊ້ຟອນ Noto Sans Lao ຫຼື Phetsarath OT ໃນການສ້າງ 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ເນັ້ນກົດເຫຼັກ: ທຸກຢ່າງທີ່ອອກໄປຫາລູກຄ້າ ຕ້ອງຜ່ານຄົນກວດ. ຖາມຜູ້ຮຽນວ່າ ຖ້າຈົດໝາຍຜິດຊື່ຫາລູກຄ້າ ຈະເກີດຫຍັງຂຶ້ນ.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ອະທິບາຍວ່າ AI ບໍ່ຈຳເປັນຕ້ອງຮູ້ຊື່ລູກຄ້າ ເພື່ອນັບມື້ ຫຼື ຄິດໄລ່. ສາທິດການສັ່ງ Agent ປິດບັງຂໍ້ມູນໃນໄຟລ໌ສຳເນົາ. ການໃຊ້ຂໍ້ມູນຈິງ ຕ້ອງເປັນໄປຕາມນະໂຍບາຍຂອງອົງກອນ.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ສະຫຼຸບ 3 ຫຼັກການ ທີ່ໃຊ້ຕະຫຼອດໄປ ບໍ່ວ່າຈະໃຊ້ AI ໂຕໃດ. ໃຫ້ຜູ້ຮຽນຖ່າຍຮູບສະໄລນີ້ໄວ້.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ໃຫ້ຜູ້ຮຽນເປີດໂຟນເດີ output/ ແລະ ກວດວ່າມີຜົນງານຄົບ 3 ຊິ້ນ. ນີ້ແມ່ນເງື່ອນໄຂໄດ້ຮັບໃບຢັ້ງຢືນ.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ແນະນຳຫຼັກສູດ Advanced ສັ້ນໆ: 8 ຊົ່ວໂມງ, 2 ເສົາ-ອາທິດ. ແຈກແບບຟອມປະເມີນຫຼັກສູດ.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ເປີດໃຫ້ຖາມ-ຕອບ ແລ້ວມອບໃບຢັ້ງຢືນ. ຖ່າຍຮູບລວມ.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67665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64008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2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5212080"/>
            <a:ext cx="676656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68680"/>
            <a:ext cx="36576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8800" b="1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39496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017520"/>
            <a:ext cx="5394960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6BD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000" dirty="0">
                <a:solidFill>
                  <a:schemeClr val="accent5"/>
                </a:solidFill>
              </a:rPr>
              <a:t>Antigravity Basic · ວຽກຫ້ອງການ ແລະ ເຄລມປະກັນໄພ</a:t>
            </a:r>
            <a:endParaRPr lang="lo-LA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ORKSHOP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4" name="Text 0"/>
          <p:cNvSpPr/>
          <p:nvPr/>
        </p:nvSpPr>
        <p:spPr>
          <a:xfrm>
            <a:off x="548640" y="6355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000" dirty="0">
                <a:solidFill>
                  <a:schemeClr val="accent5"/>
                </a:solidFill>
              </a:rPr>
              <a:t>Antigravity Basic · ວຽກຫ້ອງການ ແລະ ເຄລມປະກັນໄພ</a:t>
            </a:r>
            <a:endParaRPr lang="lo-LA" sz="1000" dirty="0"/>
          </a:p>
        </p:txBody>
      </p:sp>
      <p:sp>
        <p:nvSpPr>
          <p:cNvPr id="5" name="Text 1"/>
          <p:cNvSpPr/>
          <p:nvPr/>
        </p:nvSpPr>
        <p:spPr>
          <a:xfrm>
            <a:off x="10085832" y="384048"/>
            <a:ext cx="15544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chemeClr val="tx1"/>
                </a:solidFill>
              </a:rPr>
              <a:t>WORKSHOP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6BD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5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image" Target="../media/image-18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png"/><Relationship Id="rId4" Type="http://schemas.openxmlformats.org/officeDocument/2006/relationships/image" Target="../media/image-30-4.png"/><Relationship Id="rId5" Type="http://schemas.openxmlformats.org/officeDocument/2006/relationships/image" Target="../media/image-30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image" Target="../media/image-33-5.png"/><Relationship Id="rId6" Type="http://schemas.openxmlformats.org/officeDocument/2006/relationships/image" Target="../media/image-33-6.png"/><Relationship Id="rId7" Type="http://schemas.openxmlformats.org/officeDocument/2006/relationships/image" Target="../media/image-33-7.png"/><Relationship Id="rId8" Type="http://schemas.openxmlformats.org/officeDocument/2006/relationships/image" Target="../media/image-33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3" Type="http://schemas.openxmlformats.org/officeDocument/2006/relationships/image" Target="../media/image-3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b="1" spc="100" kern="0" dirty="0">
                <a:solidFill>
                  <a:schemeClr val="bg2"/>
                </a:solidFill>
              </a:rPr>
              <a:t>ຫຼັກສູດ Google Antigravity</a:t>
            </a:r>
            <a:endParaRPr lang="lo-LA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4600" b="1" dirty="0">
                <a:solidFill>
                  <a:schemeClr val="bg1"/>
                </a:solidFill>
              </a:rPr>
              <a:t>Antigravity Basic</a:t>
            </a:r>
            <a:endParaRPr lang="lo-LA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dirty="0">
                <a:solidFill>
                  <a:schemeClr val="accent2"/>
                </a:solidFill>
              </a:rPr>
              <a:t>ເລີ່ມໃຊ້ AI Agent ໃນວຽກຫ້ອງການ ແລະ ວຽກເຄລມປະກັນໄພ</a:t>
            </a:r>
            <a:endParaRPr lang="lo-LA" sz="22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5212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bg2"/>
                </a:solidFill>
              </a:rPr>
              <a:t>4 ຊົ່ວໂມງ · ວັນເສົາ-ອາທິດ ມື້ລະ 2 ຊົ່ວໂມງ · ຜູ້ສອນ: [ຊື່ຜູ້ສອນ]</a:t>
            </a:r>
            <a:endParaRPr lang="lo-LA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914400"/>
            <a:ext cx="4297680" cy="5029200"/>
          </a:xfrm>
          <a:prstGeom prst="ellipse">
            <a:avLst/>
          </a:prstGeom>
          <a:noFill/>
          <a:ln w="19050">
            <a:solidFill>
              <a:srgbClr val="25474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rot="-240000">
            <a:off x="7589520" y="14173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-240000">
            <a:off x="781812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CLM-2026-0142</a:t>
            </a:r>
            <a:endParaRPr lang="lo-LA" sz="1200" dirty="0"/>
          </a:p>
        </p:txBody>
      </p:sp>
      <p:sp>
        <p:nvSpPr>
          <p:cNvPr id="9" name="Text 7"/>
          <p:cNvSpPr txBox="1"/>
          <p:nvPr/>
        </p:nvSpPr>
        <p:spPr>
          <a:xfrm rot="-240000">
            <a:off x="78181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ໃບສະເໜີລາຄາອູ່ · 8,450,000 ກີບ</a:t>
            </a:r>
            <a:endParaRPr lang="lo-LA" sz="1400" dirty="0"/>
          </a:p>
        </p:txBody>
      </p:sp>
      <p:sp>
        <p:nvSpPr>
          <p:cNvPr id="10" name="Shape 8"/>
          <p:cNvSpPr/>
          <p:nvPr/>
        </p:nvSpPr>
        <p:spPr>
          <a:xfrm rot="180000">
            <a:off x="8229600" y="27889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180000">
            <a:off x="845820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ລາຍງານເຄລມ.xlsx</a:t>
            </a:r>
            <a:endParaRPr lang="lo-LA" sz="1200" dirty="0"/>
          </a:p>
        </p:txBody>
      </p:sp>
      <p:sp>
        <p:nvSpPr>
          <p:cNvPr id="12" name="Text 10"/>
          <p:cNvSpPr txBox="1"/>
          <p:nvPr/>
        </p:nvSpPr>
        <p:spPr>
          <a:xfrm rot="180000">
            <a:off x="84582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ລົດ 42 · ສຸຂະພາບ 31 · ຊັບສິນ 9</a:t>
            </a:r>
            <a:endParaRPr lang="lo-LA" sz="1400" dirty="0"/>
          </a:p>
        </p:txBody>
      </p:sp>
      <p:sp>
        <p:nvSpPr>
          <p:cNvPr id="13" name="Shape 11"/>
          <p:cNvSpPr/>
          <p:nvPr/>
        </p:nvSpPr>
        <p:spPr>
          <a:xfrm rot="-90000">
            <a:off x="7772400" y="41605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 rot="-90000">
            <a:off x="8001000" y="4315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Agent · Task List</a:t>
            </a:r>
            <a:endParaRPr lang="lo-LA" sz="1200" dirty="0"/>
          </a:p>
        </p:txBody>
      </p:sp>
      <p:sp>
        <p:nvSpPr>
          <p:cNvPr id="15" name="Text 13"/>
          <p:cNvSpPr txBox="1"/>
          <p:nvPr/>
        </p:nvSpPr>
        <p:spPr>
          <a:xfrm rot="-90000">
            <a:off x="800100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ກວດເອກະສານ 12/12 ໄຟລ໌ ແລ້ວ</a:t>
            </a:r>
            <a:endParaRPr lang="lo-LA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ພາບລວມຫຼັກສູດ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ແຜນການຮຽນ 2 ມື້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05740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ມື້ທີ 1 · ວັນເສົາ · 2 ຊົ່ວໂມງ</a:t>
            </a:r>
            <a:endParaRPr lang="lo-LA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04872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ຮູ້ຈັກ ແລະ ສັ່ງງານ AI Agent ຄັ້ງທຳອິດ</a:t>
            </a:r>
            <a:endParaRPr lang="lo-LA" sz="1900" dirty="0"/>
          </a:p>
        </p:txBody>
      </p:sp>
      <p:sp>
        <p:nvSpPr>
          <p:cNvPr id="7" name="Shape 5"/>
          <p:cNvSpPr/>
          <p:nvPr/>
        </p:nvSpPr>
        <p:spPr>
          <a:xfrm>
            <a:off x="868680" y="310896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tx1"/>
                </a:solidFill>
              </a:rPr>
              <a:t>20 ນາທີ</a:t>
            </a:r>
            <a:endParaRPr lang="lo-LA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3090672"/>
            <a:ext cx="348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AI Agent ຕ່າງຈາກ Chatbot ແນວໃດ</a:t>
            </a:r>
            <a:endParaRPr lang="lo-LA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3822192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822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tx1"/>
                </a:solidFill>
              </a:rPr>
              <a:t>30 ນາທີ</a:t>
            </a:r>
            <a:endParaRPr lang="lo-LA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2148840" y="3803904"/>
            <a:ext cx="348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ຕິດຕັ້ງ ແລະ ຕັ້ງຄ່າໃຫ້ປອດໄພ</a:t>
            </a:r>
            <a:endParaRPr lang="lo-LA" sz="1600" dirty="0"/>
          </a:p>
        </p:txBody>
      </p:sp>
      <p:sp>
        <p:nvSpPr>
          <p:cNvPr id="13" name="Shape 11"/>
          <p:cNvSpPr/>
          <p:nvPr/>
        </p:nvSpPr>
        <p:spPr>
          <a:xfrm>
            <a:off x="868680" y="4535424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45354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tx1"/>
                </a:solidFill>
              </a:rPr>
              <a:t>25 ນາທີ</a:t>
            </a:r>
            <a:endParaRPr lang="lo-LA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4517136"/>
            <a:ext cx="348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ສ່ວນປະກອບຫຼັກຂອງ Antigravity</a:t>
            </a:r>
            <a:endParaRPr lang="lo-LA" sz="1600" dirty="0"/>
          </a:p>
        </p:txBody>
      </p:sp>
      <p:sp>
        <p:nvSpPr>
          <p:cNvPr id="16" name="Shape 14"/>
          <p:cNvSpPr/>
          <p:nvPr/>
        </p:nvSpPr>
        <p:spPr>
          <a:xfrm>
            <a:off x="868680" y="5248656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52486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tx1"/>
                </a:solidFill>
              </a:rPr>
              <a:t>45 ນາທີ</a:t>
            </a:r>
            <a:endParaRPr lang="lo-LA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2148840" y="5230368"/>
            <a:ext cx="348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Workshop 1: ຈັດລະບຽບຂໍ້ມູນ Excel</a:t>
            </a:r>
            <a:endParaRPr lang="lo-LA" sz="1600" dirty="0"/>
          </a:p>
        </p:txBody>
      </p:sp>
      <p:sp>
        <p:nvSpPr>
          <p:cNvPr id="19" name="Shape 17"/>
          <p:cNvSpPr/>
          <p:nvPr/>
        </p:nvSpPr>
        <p:spPr>
          <a:xfrm>
            <a:off x="6233008" y="1783080"/>
            <a:ext cx="541004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53048" y="2057400"/>
            <a:ext cx="47699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1"/>
                </a:solidFill>
              </a:rPr>
              <a:t>ມື້ທີ 2 · ວັນອາທິດ · 2 ຊົ່ວໂມງ</a:t>
            </a:r>
            <a:endParaRPr lang="lo-LA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53048" y="2404872"/>
            <a:ext cx="476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tx1"/>
                </a:solidFill>
              </a:rPr>
              <a:t>ໃຊ້ Antigravity ກັບວຽກເຄລມປະກັນໄພ</a:t>
            </a:r>
            <a:endParaRPr lang="lo-LA" sz="1900" dirty="0"/>
          </a:p>
        </p:txBody>
      </p:sp>
      <p:sp>
        <p:nvSpPr>
          <p:cNvPr id="22" name="Shape 20"/>
          <p:cNvSpPr/>
          <p:nvPr/>
        </p:nvSpPr>
        <p:spPr>
          <a:xfrm>
            <a:off x="6553048" y="3108960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53048" y="31089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tx1"/>
                </a:solidFill>
              </a:rPr>
              <a:t>20 ນາທີ</a:t>
            </a:r>
            <a:endParaRPr lang="lo-LA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7833208" y="3090672"/>
            <a:ext cx="348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ສູດສັ່ງງານ Agent 5 ຂໍ້</a:t>
            </a:r>
            <a:endParaRPr lang="lo-LA" sz="1600" dirty="0"/>
          </a:p>
        </p:txBody>
      </p:sp>
      <p:sp>
        <p:nvSpPr>
          <p:cNvPr id="25" name="Shape 23"/>
          <p:cNvSpPr/>
          <p:nvPr/>
        </p:nvSpPr>
        <p:spPr>
          <a:xfrm>
            <a:off x="6553048" y="3822192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553048" y="3822192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tx1"/>
                </a:solidFill>
              </a:rPr>
              <a:t>40 ນາທີ</a:t>
            </a:r>
            <a:endParaRPr lang="lo-LA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7833208" y="3803904"/>
            <a:ext cx="348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Workshop 2: ທະບຽນຕິດຕາມເຄລມ</a:t>
            </a:r>
            <a:endParaRPr lang="lo-LA" sz="1600" dirty="0"/>
          </a:p>
        </p:txBody>
      </p:sp>
      <p:sp>
        <p:nvSpPr>
          <p:cNvPr id="28" name="Shape 26"/>
          <p:cNvSpPr/>
          <p:nvPr/>
        </p:nvSpPr>
        <p:spPr>
          <a:xfrm>
            <a:off x="6553048" y="4535424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6553048" y="4535424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tx1"/>
                </a:solidFill>
              </a:rPr>
              <a:t>40 ນາທີ</a:t>
            </a:r>
            <a:endParaRPr lang="lo-LA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7833208" y="4517136"/>
            <a:ext cx="348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Workshop 3: ຈົດໝາຍເຄລມອັດຕະໂນມັດ</a:t>
            </a:r>
            <a:endParaRPr lang="lo-LA" sz="1600" dirty="0"/>
          </a:p>
        </p:txBody>
      </p:sp>
      <p:sp>
        <p:nvSpPr>
          <p:cNvPr id="31" name="Shape 29"/>
          <p:cNvSpPr/>
          <p:nvPr/>
        </p:nvSpPr>
        <p:spPr>
          <a:xfrm>
            <a:off x="6553048" y="5248656"/>
            <a:ext cx="1097280" cy="36576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553048" y="5248656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200" b="1" dirty="0">
                <a:solidFill>
                  <a:schemeClr val="tx1"/>
                </a:solidFill>
              </a:rPr>
              <a:t>20 ນາທີ</a:t>
            </a:r>
            <a:endParaRPr lang="lo-LA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7833208" y="5230368"/>
            <a:ext cx="3489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ຄວາມປອດໄພຂໍ້ມູນ ແລະ ສະຫຼຸບ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ສິ່ງທີ່ຈະໄດ້ຮັບ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ຮຽນຈົບ ທ່ານຈະມີ 3 ຜົນງານທີ່ໃຊ້ໄດ້ທັນທີ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880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000" b="1" dirty="0">
                <a:solidFill>
                  <a:schemeClr val="tx1"/>
                </a:solidFill>
              </a:rPr>
              <a:t>ລາຍງານສະຫຼຸບ 5 ສາຂາ</a:t>
            </a:r>
            <a:endParaRPr lang="lo-LA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410712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ລວມ ແລະ ທຳຄວາມສະອາດຂໍ້ມູນຈາກຫຼາຍໄຟລ໌ ພ້ອມກຣາຟ</a:t>
            </a:r>
            <a:endParaRPr lang="lo-LA" sz="17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0574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8601" y="2193463"/>
            <a:ext cx="294803" cy="29480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880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000" b="1" dirty="0">
                <a:solidFill>
                  <a:schemeClr val="tx1"/>
                </a:solidFill>
              </a:rPr>
              <a:t>ທະບຽນຕິດຕາມເຄລມ</a:t>
            </a:r>
            <a:endParaRPr lang="lo-LA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410712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ນັບມື້ຄ້າງ ແລະ ເຕືອນເຄລມທີ່ເກີນກຳນົດ SLA</a:t>
            </a:r>
            <a:endParaRPr lang="lo-LA" sz="1700" dirty="0"/>
          </a:p>
        </p:txBody>
      </p:sp>
      <p:sp>
        <p:nvSpPr>
          <p:cNvPr id="14" name="Shape 10"/>
          <p:cNvSpPr/>
          <p:nvPr/>
        </p:nvSpPr>
        <p:spPr>
          <a:xfrm>
            <a:off x="8127797" y="1783080"/>
            <a:ext cx="3515258" cy="2514600"/>
          </a:xfrm>
          <a:prstGeom prst="roundRect">
            <a:avLst>
              <a:gd name="adj" fmla="val 4364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05740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38180" y="2193463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880360"/>
            <a:ext cx="2966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000" b="1" dirty="0">
                <a:solidFill>
                  <a:schemeClr val="tx1"/>
                </a:solidFill>
              </a:rPr>
              <a:t>ຊຸດຈົດໝາຍເຄລມ</a:t>
            </a:r>
            <a:endParaRPr lang="lo-LA" sz="20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410712"/>
            <a:ext cx="296661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ຈົດໝາຍຫຼາຍສະບັບ ຈາກແມ່ແບບດຽວ (Word/PDF)</a:t>
            </a:r>
            <a:endParaRPr lang="lo-LA" sz="1700" dirty="0"/>
          </a:p>
        </p:txBody>
      </p:sp>
      <p:sp>
        <p:nvSpPr>
          <p:cNvPr id="19" name="Shape 14"/>
          <p:cNvSpPr/>
          <p:nvPr/>
        </p:nvSpPr>
        <p:spPr>
          <a:xfrm>
            <a:off x="548640" y="4663440"/>
            <a:ext cx="11094415" cy="914400"/>
          </a:xfrm>
          <a:prstGeom prst="roundRect">
            <a:avLst>
              <a:gd name="adj" fmla="val 12000"/>
            </a:avLst>
          </a:prstGeom>
          <a:solidFill>
            <a:schemeClr val="tx1"/>
          </a:solidFill>
          <a:ln/>
        </p:spPr>
      </p:sp>
      <p:sp>
        <p:nvSpPr>
          <p:cNvPr id="20" name="Text 15"/>
          <p:cNvSpPr txBox="1"/>
          <p:nvPr/>
        </p:nvSpPr>
        <p:spPr>
          <a:xfrm>
            <a:off x="914400" y="466344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b="1" dirty="0">
                <a:solidFill>
                  <a:schemeClr val="accent2"/>
                </a:solidFill>
              </a:rPr>
              <a:t>ທັກສະທີ່ໄດ້</a:t>
            </a:r>
            <a:endParaRPr lang="lo-LA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2743200" y="4663440"/>
            <a:ext cx="85340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bg1"/>
                </a:solidFill>
              </a:rPr>
              <a:t>ຕິດຕັ້ງຢ່າງປອດໄພ · ສູດສັ່ງງານ 5 ຂໍ້ · ກວດຜົນງານ AI · ປົກປ້ອງຂໍ້ມູນລູກຄ້າ</a:t>
            </a:r>
            <a:endParaRPr lang="lo-LA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ກ່ອນເລີ່ມ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ກວດຄວາມພ້ອມ 5 ຢ່າງ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2975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01368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ຕິດຕັ້ງ Antigravity ແລະ ເຂົ້າສູ່ລະບົບດ້ວຍ Gmail ແລ້ວ</a:t>
            </a:r>
            <a:endParaRPr lang="lo-LA" sz="1900" dirty="0"/>
          </a:p>
        </p:txBody>
      </p:sp>
      <p:sp>
        <p:nvSpPr>
          <p:cNvPr id="7" name="Shape 4"/>
          <p:cNvSpPr/>
          <p:nvPr/>
        </p:nvSpPr>
        <p:spPr>
          <a:xfrm>
            <a:off x="1188720" y="2532888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688336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789286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60904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ເຊື່ອມຕໍ່ Wi-Fi ຂອງຫ້ອງຮຽນໄດ້</a:t>
            </a:r>
            <a:endParaRPr lang="lo-LA" sz="1900" dirty="0"/>
          </a:p>
        </p:txBody>
      </p:sp>
      <p:sp>
        <p:nvSpPr>
          <p:cNvPr id="11" name="Shape 7"/>
          <p:cNvSpPr/>
          <p:nvPr/>
        </p:nvSpPr>
        <p:spPr>
          <a:xfrm>
            <a:off x="1188720" y="3392424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547872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648822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20440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ດາວໂຫຼດໂຟນເດີ Antigravity-Course ຈາກກຸ່ມຮຽນແລ້ວ</a:t>
            </a:r>
            <a:endParaRPr lang="lo-LA" sz="1900" dirty="0"/>
          </a:p>
        </p:txBody>
      </p:sp>
      <p:sp>
        <p:nvSpPr>
          <p:cNvPr id="15" name="Shape 10"/>
          <p:cNvSpPr/>
          <p:nvPr/>
        </p:nvSpPr>
        <p:spPr>
          <a:xfrm>
            <a:off x="1188720" y="4251960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4407408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508358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379976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ເປີດໄຟລ໌ Excel ແລະ Word ໄດ້</a:t>
            </a:r>
            <a:endParaRPr lang="lo-LA" sz="1900" dirty="0"/>
          </a:p>
        </p:txBody>
      </p:sp>
      <p:sp>
        <p:nvSpPr>
          <p:cNvPr id="19" name="Shape 13"/>
          <p:cNvSpPr/>
          <p:nvPr/>
        </p:nvSpPr>
        <p:spPr>
          <a:xfrm>
            <a:off x="1188720" y="5111496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48640" y="5266944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5367894"/>
            <a:ext cx="218724" cy="21872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188720" y="5239512"/>
            <a:ext cx="60807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ໃຊ້ຂໍ້ມູນສົມມຸດເທົ່ານັ້ນ ບໍ່ນຳຂໍ້ມູນລູກຄ້າຈິງມາຝຶກ</a:t>
            </a:r>
            <a:endParaRPr lang="lo-LA" sz="1900" dirty="0"/>
          </a:p>
        </p:txBody>
      </p:sp>
      <p:sp>
        <p:nvSpPr>
          <p:cNvPr id="23" name="Shape 16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24" name="Shape 17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ຕິດຕັ້ງບໍ່ໄດ້?</a:t>
            </a:r>
            <a:endParaRPr lang="lo-LA" sz="1900" dirty="0"/>
          </a:p>
        </p:txBody>
      </p:sp>
      <p:sp>
        <p:nvSpPr>
          <p:cNvPr id="27" name="Text 19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ຍົກມືບອກຜູ້ສອນ.</a:t>
            </a:r>
            <a:endParaRPr lang="lo-LA" sz="1600" dirty="0"/>
          </a:p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ເຮົາຈະແກ້ໃນຊ່ວງຕິດຕັ້ງ 30 ນາທີ ຂອງມື້ນີ້. ລະຫວ່າງນັ້ນ ໃຫ້ນັ່ງເບິ່ງຈໍກັບໝູ່ຂ້າງໆ.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68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8800" b="1" dirty="0">
                <a:solidFill>
                  <a:schemeClr val="accent2"/>
                </a:solidFill>
              </a:rPr>
              <a:t>01</a:t>
            </a:r>
            <a:endParaRPr lang="lo-LA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bg2"/>
                </a:solidFill>
              </a:rPr>
              <a:t>ມື້ທີ 1 · ວັນເສົາ · 2 ຊົ່ວໂມງ</a:t>
            </a:r>
            <a:endParaRPr lang="lo-LA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0175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400" b="1" dirty="0">
                <a:solidFill>
                  <a:schemeClr val="bg1"/>
                </a:solidFill>
              </a:rPr>
              <a:t>ຮູ້ຈັກ ແລະ ສັ່ງງານ AI Agent ຄັ້ງທຳອິດ</a:t>
            </a:r>
            <a:endParaRPr lang="lo-LA" sz="3400" dirty="0"/>
          </a:p>
        </p:txBody>
      </p:sp>
      <p:sp>
        <p:nvSpPr>
          <p:cNvPr id="5" name="Shape 3"/>
          <p:cNvSpPr/>
          <p:nvPr/>
        </p:nvSpPr>
        <p:spPr>
          <a:xfrm>
            <a:off x="6492240" y="114300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0" y="1143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20 ນາທີ</a:t>
            </a:r>
            <a:endParaRPr lang="lo-L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112471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AI Agent ຕ່າງຈາກ Chatbot ແນວໃດ</a:t>
            </a:r>
            <a:endParaRPr lang="lo-LA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205740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4028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30 ນາທີ</a:t>
            </a:r>
            <a:endParaRPr lang="lo-LA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22199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ຕິດຕັ້ງ ແລະ ຕັ້ງຄ່າໃຫ້ປອດໄພ</a:t>
            </a:r>
            <a:endParaRPr lang="lo-LA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315468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33756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337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25 ນາທີ</a:t>
            </a:r>
            <a:endParaRPr lang="lo-L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31927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ສ່ວນປະກອບຫຼັກຂອງ Antigravity</a:t>
            </a:r>
            <a:endParaRPr lang="lo-LA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425196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43484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434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45 ນາທີ</a:t>
            </a:r>
            <a:endParaRPr lang="lo-LA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441655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Workshop 1: ຈັດລະບຽບຂໍ້ມູນ Excel</a:t>
            </a:r>
            <a:endParaRPr lang="lo-L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6BD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20 ນາທີ · AI Agent ແມ່ນຫຍັງ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Chatbot ຕອບຄຳຖາມ, Agent ລົງມືເຮັດ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Chatbot</a:t>
            </a:r>
            <a:endParaRPr lang="lo-L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ທ່ານຖາມ ມັນຕອບເປັນຂໍ້ຄວາມ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ທ່ານກ໊ອບປີ້ຄຳຕອບໄປເຮັດຕໍ່ເອງ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ບໍ່ເຫັນໄຟລ໌ໃນຄອມຂອງທ່ານ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ເໝາະກັບ: ຖາມຂໍ້ມູນ, ຮ່າງຂໍ້ຄວາມ</a:t>
            </a:r>
            <a:endParaRPr lang="lo-LA" sz="190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accent6"/>
          </a:solidFill>
          <a:ln/>
        </p:spPr>
      </p:sp>
      <p:sp>
        <p:nvSpPr>
          <p:cNvPr id="10" name="Shape 7"/>
          <p:cNvSpPr/>
          <p:nvPr/>
        </p:nvSpPr>
        <p:spPr>
          <a:xfrm>
            <a:off x="6598768" y="2103120"/>
            <a:ext cx="548640" cy="548640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41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1"/>
                </a:solidFill>
              </a:rPr>
              <a:t>AI Agent ໃນ Antigravity</a:t>
            </a:r>
            <a:endParaRPr lang="lo-L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598768" y="288036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ທ່ານບອກເປົ້າໝາຍ ມັນວາງແຜນເອງ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ເປີດ, ແກ້ ແລະ ສ້າງໄຟລ໌ໃຫ້ແທ້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ຂຽນ ແລະ ແລ່ນໂປຣແກຣມນ້ອຍໆ ເພື່ອເຮັດວຽກ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ສົ່ງຜົນ ແລະ ຫຼັກຖານໃຫ້ທ່ານກວດ</a:t>
            </a:r>
            <a:endParaRPr lang="lo-LA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5696712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5788884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0" y="5696712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Chatbot ບອກວິທີລວມ Excel. Agent ລວມ Excel ໃຫ້ເລີຍ.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20 ນາທີ · AI Agent ແມ່ນຫຍັງ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Agent ເຮັດວຽກເປັນວົງຈອນ 4 ຂັ້ນ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ຮັບເປົ້າໝາຍ</a:t>
            </a:r>
            <a:endParaRPr lang="lo-L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ທ່ານບອກວ່າຢາກໄດ້ຫຍັງ ຈາກໄຟລ໌ໃດ</a:t>
            </a:r>
            <a:endParaRPr lang="lo-LA" sz="1700" dirty="0"/>
          </a:p>
        </p:txBody>
      </p:sp>
      <p:sp>
        <p:nvSpPr>
          <p:cNvPr id="9" name="Shape 6"/>
          <p:cNvSpPr/>
          <p:nvPr/>
        </p:nvSpPr>
        <p:spPr>
          <a:xfrm rot="5400000">
            <a:off x="3162224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0" name="Shape 7"/>
          <p:cNvSpPr/>
          <p:nvPr/>
        </p:nvSpPr>
        <p:spPr>
          <a:xfrm>
            <a:off x="3399968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656000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63" y="219346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6000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ວາງແຜນ</a:t>
            </a:r>
            <a:endParaRPr lang="lo-LA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3656000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Agent ຂຽນແຜນ ແລະ ລາຍການຂັ້ນຕອນ</a:t>
            </a:r>
            <a:endParaRPr lang="lo-LA" sz="1700" dirty="0"/>
          </a:p>
        </p:txBody>
      </p:sp>
      <p:sp>
        <p:nvSpPr>
          <p:cNvPr id="15" name="Shape 11"/>
          <p:cNvSpPr/>
          <p:nvPr/>
        </p:nvSpPr>
        <p:spPr>
          <a:xfrm rot="5400000">
            <a:off x="6013552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6" name="Shape 12"/>
          <p:cNvSpPr/>
          <p:nvPr/>
        </p:nvSpPr>
        <p:spPr>
          <a:xfrm>
            <a:off x="6251296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6507328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390" y="21934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07328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ລົງມືເຮັດ</a:t>
            </a:r>
            <a:endParaRPr lang="lo-LA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ເປີດໄຟລ໌, ແລ່ນຄຳສັ່ງ, ສ້າງຜົນລັບ</a:t>
            </a:r>
            <a:endParaRPr lang="lo-LA" sz="1700" dirty="0"/>
          </a:p>
        </p:txBody>
      </p:sp>
      <p:sp>
        <p:nvSpPr>
          <p:cNvPr id="21" name="Shape 16"/>
          <p:cNvSpPr/>
          <p:nvPr/>
        </p:nvSpPr>
        <p:spPr>
          <a:xfrm rot="5400000">
            <a:off x="8864879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2" name="Shape 17"/>
          <p:cNvSpPr/>
          <p:nvPr/>
        </p:nvSpPr>
        <p:spPr>
          <a:xfrm>
            <a:off x="9102623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9358655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718" y="219346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58655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ກວດ ແລະ ລາຍງານ</a:t>
            </a:r>
            <a:endParaRPr lang="lo-LA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9358655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Agent ກວດຜົນເອງ ແລ້ວສົ່ງໃຫ້ທ່ານກວດ</a:t>
            </a:r>
            <a:endParaRPr lang="lo-LA" sz="1700" dirty="0"/>
          </a:p>
        </p:txBody>
      </p:sp>
      <p:sp>
        <p:nvSpPr>
          <p:cNvPr id="27" name="Shape 21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ທ່ານຄວບຄຸມໄດ້ທຸກຂັ້ນ: ອະນຸມັດແຜນ, ອະນຸຍາດຄຳສັ່ງ ແລະ ສັ່ງແກ້ຜົນລັບ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20 ນາທີ · AI Agent ແມ່ນຫຍັງ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ວຽກແບບໃດທີ່ຄວນໃຫ້ Agent ເຮັດ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3"/>
                </a:solidFill>
              </a:rPr>
              <a:t>ເໝາະ</a:t>
            </a:r>
            <a:endParaRPr lang="lo-L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72424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ວຽກຊ້ຳຊາກ ທີ່ເຮັດທຸກອາທິດ ຫຼື ທຸກເດືອນ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ວຽກທີ່ມີກົດຊັດເຈນ ເຊັ່ນ ນັບມື້, ຄິດໄລ່, ຈັດຮູບແບບ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ຂໍ້ມູນຢູ່ໃນໄຟລ໌: Excel, Word, PDF, ຮູບຖ່າຍ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ຜົນລັບກວດໄດ້ງ່າຍ</a:t>
            </a:r>
            <a:endParaRPr lang="lo-LA" sz="190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598768" y="2103120"/>
            <a:ext cx="548640" cy="548640"/>
          </a:xfrm>
          <a:prstGeom prst="ellipse">
            <a:avLst/>
          </a:prstGeom>
          <a:solidFill>
            <a:srgbClr val="B940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41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4"/>
                </a:solidFill>
              </a:rPr>
              <a:t>ບໍ່ເໝາະ</a:t>
            </a:r>
            <a:endParaRPr lang="lo-L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598768" y="2880360"/>
            <a:ext cx="4724248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ການຕັດສິນອະນຸມັດ ຫຼື ປະຕິເສດເຄລມ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ການເຈລະຈາກັບລູກຄ້າ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ວຽກທີ່ບໍ່ມີຂໍ້ມູນ ຫຼື ກົດເກນທີ່ແນ່ນອນ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ການສົ່ງຂໍ້ມູນລູກຄ້າອອກນອກອົງກອນ</a:t>
            </a:r>
            <a:endParaRPr lang="lo-LA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20 ນາທີ · ສາທິດ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ສາທິດສົດ: ລວມ Excel 12 ເດືອນ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ສັງເກດ 4 ຢ່າງ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ຜູ້ສອນພິມຄຳສັ່ງນີ້ໃນແຖບ Agent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Agent ວາງແຜນກ່ອນລົງມື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Agent ຂໍອະນຸຍາດກ່ອນແລ່ນຄຳສັ່ງ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Agent ລາຍງານຜົນ ແລະ ສິ່ງທີ່ຜິດປົກກະຕິ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PROMPT</a:t>
            </a:r>
            <a:endParaRPr lang="lo-LA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ໃນໂຟນເດີ demo/ ມີໄຟລ໌ Excel ລາຍງານຄ່າໃຊ້ຈ່າຍ 12 ເດືອນ (ມັງກອນ ຫາ ທັນວາ).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 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ໃຫ້ລວມເປັນຊີດດຽວ ຮຽງຕາມວັນທີ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ແລະ ເພີ່ມຊີດສະຫຼຸບຍອດລວມແຕ່ລະເດືອນ.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 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ບັນທຶກເປັນ output/ລາຍງານປີ.xlsx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 </a:t>
            </a:r>
            <a:endParaRPr lang="lo-LA" sz="16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ສຸດທ້າຍ ບອກຈຳນວນແຖວທັງໝົດ ແລະ ຍອດລວມທັງປີ.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30 ນາທີ · ຕິດຕັ້ງ ແລະ ຕັ້ງຄ່າ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ຕິດຕັ້ງ Antigravity ໃນ 5 ຂັ້ນຕອນ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ດາວໂຫຼດ</a:t>
            </a:r>
            <a:endParaRPr lang="lo-LA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ເລືອກ Windows, macOS ຫຼື Linux</a:t>
            </a:r>
            <a:endParaRPr lang="lo-LA" sz="1600" dirty="0"/>
          </a:p>
        </p:txBody>
      </p:sp>
      <p:sp>
        <p:nvSpPr>
          <p:cNvPr id="9" name="Shape 6"/>
          <p:cNvSpPr/>
          <p:nvPr/>
        </p:nvSpPr>
        <p:spPr>
          <a:xfrm rot="5400000">
            <a:off x="2591958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0" name="Shape 7"/>
          <p:cNvSpPr/>
          <p:nvPr/>
        </p:nvSpPr>
        <p:spPr>
          <a:xfrm>
            <a:off x="2829702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085734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1797" y="219346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85734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ຕິດຕັ້ງ</a:t>
            </a:r>
            <a:endParaRPr lang="lo-LA" sz="1800" dirty="0"/>
          </a:p>
        </p:txBody>
      </p:sp>
      <p:sp>
        <p:nvSpPr>
          <p:cNvPr id="14" name="Text 10"/>
          <p:cNvSpPr txBox="1"/>
          <p:nvPr/>
        </p:nvSpPr>
        <p:spPr>
          <a:xfrm>
            <a:off x="3085734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ເປີດໄຟລ໌ຕິດຕັ້ງ ແລ້ວກົດຕໍ່ໄປຈົນສຳເລັດ</a:t>
            </a:r>
            <a:endParaRPr lang="lo-LA" sz="1600" dirty="0"/>
          </a:p>
        </p:txBody>
      </p:sp>
      <p:sp>
        <p:nvSpPr>
          <p:cNvPr id="15" name="Shape 11"/>
          <p:cNvSpPr/>
          <p:nvPr/>
        </p:nvSpPr>
        <p:spPr>
          <a:xfrm rot="5400000">
            <a:off x="4873020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6" name="Shape 12"/>
          <p:cNvSpPr/>
          <p:nvPr/>
        </p:nvSpPr>
        <p:spPr>
          <a:xfrm>
            <a:off x="5110764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17" name="Shape 13"/>
          <p:cNvSpPr/>
          <p:nvPr/>
        </p:nvSpPr>
        <p:spPr>
          <a:xfrm>
            <a:off x="5366796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859" y="21934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66796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ເຂົ້າສູ່ລະບົບ</a:t>
            </a:r>
            <a:endParaRPr lang="lo-LA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5366796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ໃຊ້ບັນຊີ Gmail ສ່ວນຕົວ</a:t>
            </a:r>
            <a:endParaRPr lang="lo-LA" sz="1600" dirty="0"/>
          </a:p>
        </p:txBody>
      </p:sp>
      <p:sp>
        <p:nvSpPr>
          <p:cNvPr id="21" name="Shape 16"/>
          <p:cNvSpPr/>
          <p:nvPr/>
        </p:nvSpPr>
        <p:spPr>
          <a:xfrm rot="5400000">
            <a:off x="7154083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2" name="Shape 17"/>
          <p:cNvSpPr/>
          <p:nvPr/>
        </p:nvSpPr>
        <p:spPr>
          <a:xfrm>
            <a:off x="7391827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23" name="Shape 18"/>
          <p:cNvSpPr/>
          <p:nvPr/>
        </p:nvSpPr>
        <p:spPr>
          <a:xfrm>
            <a:off x="7647859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83921" y="219346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7647859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ເລືອກ Model</a:t>
            </a:r>
            <a:endParaRPr lang="lo-LA" sz="1800" dirty="0"/>
          </a:p>
        </p:txBody>
      </p:sp>
      <p:sp>
        <p:nvSpPr>
          <p:cNvPr id="26" name="Text 20"/>
          <p:cNvSpPr txBox="1"/>
          <p:nvPr/>
        </p:nvSpPr>
        <p:spPr>
          <a:xfrm>
            <a:off x="7647859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ໃຊ້ຄ່າເລີ່ມຕົ້ນທີ່ແນະນຳ</a:t>
            </a:r>
            <a:endParaRPr lang="lo-LA" sz="1600" dirty="0"/>
          </a:p>
        </p:txBody>
      </p:sp>
      <p:sp>
        <p:nvSpPr>
          <p:cNvPr id="27" name="Shape 21"/>
          <p:cNvSpPr/>
          <p:nvPr/>
        </p:nvSpPr>
        <p:spPr>
          <a:xfrm rot="5400000">
            <a:off x="9435145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8" name="Shape 22"/>
          <p:cNvSpPr/>
          <p:nvPr/>
        </p:nvSpPr>
        <p:spPr>
          <a:xfrm>
            <a:off x="9672889" y="1783080"/>
            <a:ext cx="1970166" cy="352044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29" name="Shape 23"/>
          <p:cNvSpPr/>
          <p:nvPr/>
        </p:nvSpPr>
        <p:spPr>
          <a:xfrm>
            <a:off x="9928921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4984" y="2193463"/>
            <a:ext cx="294803" cy="294803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9928921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ເປີດໂຟນເດີວຽກ</a:t>
            </a:r>
            <a:endParaRPr lang="lo-LA" sz="1800" dirty="0"/>
          </a:p>
        </p:txBody>
      </p:sp>
      <p:sp>
        <p:nvSpPr>
          <p:cNvPr id="32" name="Text 25"/>
          <p:cNvSpPr txBox="1"/>
          <p:nvPr/>
        </p:nvSpPr>
        <p:spPr>
          <a:xfrm>
            <a:off x="9928921" y="3520440"/>
            <a:ext cx="151296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ເປີດໂຟນເດີ Antigravity-Course</a:t>
            </a:r>
            <a:endParaRPr lang="lo-LA" sz="1600" dirty="0"/>
          </a:p>
        </p:txBody>
      </p:sp>
      <p:sp>
        <p:nvSpPr>
          <p:cNvPr id="33" name="Shape 26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ດາວໂຫຼດທີ່ antigravity.google · ຖ້າບັນຊີອົງກອນເຂົ້າບໍ່ໄດ້ ໃຫ້ໃຊ້ Gmail ສ່ວນຕົວ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30 ນາທີ · ຕິດຕັ້ງ ແລະ ຕັ້ງຄ່າ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ໂຟນເດີວຽກ: ແຍກຕົ້ນສະບັບ ອອກຈາກຜົນລັບ</a:t>
            </a:r>
            <a:endParaRPr lang="lo-LA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37944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005840" y="17830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700" b="1" dirty="0">
                <a:solidFill>
                  <a:schemeClr val="tx1"/>
                </a:solidFill>
              </a:rPr>
              <a:t>Antigravity-Course/</a:t>
            </a:r>
            <a:endParaRPr lang="lo-LA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4114800" y="178308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ໂຟນເດີທີ່ເປີດໃນ Antigravity</a:t>
            </a:r>
            <a:endParaRPr lang="lo-LA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441448"/>
            <a:ext cx="329184" cy="32918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1463040" y="238658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700" b="1" dirty="0">
                <a:solidFill>
                  <a:schemeClr val="tx1"/>
                </a:solidFill>
              </a:rPr>
              <a:t>data/</a:t>
            </a:r>
            <a:endParaRPr lang="lo-LA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4114800" y="2386584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ໄຟລ໌ຕົ້ນສະບັບ ຫ້າມແກ້ໄຂ</a:t>
            </a:r>
            <a:endParaRPr lang="lo-LA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3044952"/>
            <a:ext cx="329184" cy="329184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920240" y="299008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tx1"/>
                </a:solidFill>
              </a:rPr>
              <a:t>claims_sample.xlsx</a:t>
            </a:r>
            <a:endParaRPr lang="lo-LA" sz="1700" dirty="0"/>
          </a:p>
        </p:txBody>
      </p:sp>
      <p:sp>
        <p:nvSpPr>
          <p:cNvPr id="12" name="Text 7"/>
          <p:cNvSpPr txBox="1"/>
          <p:nvPr/>
        </p:nvSpPr>
        <p:spPr>
          <a:xfrm>
            <a:off x="4114800" y="2990088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ເຄລມສົມມຸດ 100 ລາຍການ</a:t>
            </a:r>
            <a:endParaRPr lang="lo-LA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648456"/>
            <a:ext cx="329184" cy="329184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463040" y="359359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700" b="1" dirty="0">
                <a:solidFill>
                  <a:schemeClr val="tx1"/>
                </a:solidFill>
              </a:rPr>
              <a:t>templates/</a:t>
            </a:r>
            <a:endParaRPr lang="lo-LA" sz="1700" dirty="0"/>
          </a:p>
        </p:txBody>
      </p:sp>
      <p:sp>
        <p:nvSpPr>
          <p:cNvPr id="15" name="Text 9"/>
          <p:cNvSpPr txBox="1"/>
          <p:nvPr/>
        </p:nvSpPr>
        <p:spPr>
          <a:xfrm>
            <a:off x="4114800" y="3593592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ແມ່ແບບຈົດໝາຍ</a:t>
            </a:r>
            <a:endParaRPr lang="lo-LA" sz="15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51960"/>
            <a:ext cx="329184" cy="329184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463040" y="4197096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700" b="1" dirty="0">
                <a:solidFill>
                  <a:schemeClr val="tx1"/>
                </a:solidFill>
              </a:rPr>
              <a:t>output/</a:t>
            </a:r>
            <a:endParaRPr lang="lo-LA" sz="1700" dirty="0"/>
          </a:p>
        </p:txBody>
      </p:sp>
      <p:sp>
        <p:nvSpPr>
          <p:cNvPr id="18" name="Text 11"/>
          <p:cNvSpPr txBox="1"/>
          <p:nvPr/>
        </p:nvSpPr>
        <p:spPr>
          <a:xfrm>
            <a:off x="4114800" y="4197096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ຜົນລັບທີ່ Agent ສ້າງ</a:t>
            </a:r>
            <a:endParaRPr lang="lo-LA" sz="15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5840" y="4855464"/>
            <a:ext cx="329184" cy="329184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463040" y="48006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700" b="1" dirty="0">
                <a:solidFill>
                  <a:schemeClr val="tx1"/>
                </a:solidFill>
              </a:rPr>
              <a:t>demo/</a:t>
            </a:r>
            <a:endParaRPr lang="lo-LA" sz="1700" dirty="0"/>
          </a:p>
        </p:txBody>
      </p:sp>
      <p:sp>
        <p:nvSpPr>
          <p:cNvPr id="21" name="Text 13"/>
          <p:cNvSpPr txBox="1"/>
          <p:nvPr/>
        </p:nvSpPr>
        <p:spPr>
          <a:xfrm>
            <a:off x="4114800" y="480060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ໄຟລ໌ສາທິດຂອງຜູ້ສອນ</a:t>
            </a:r>
            <a:endParaRPr lang="lo-LA" sz="1500" dirty="0"/>
          </a:p>
        </p:txBody>
      </p:sp>
      <p:sp>
        <p:nvSpPr>
          <p:cNvPr id="22" name="Shape 14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23" name="Shape 15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25" name="Text 16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ເປັນຫຍັງຕ້ອງແຍກ?</a:t>
            </a:r>
            <a:endParaRPr lang="lo-LA" sz="1900" dirty="0"/>
          </a:p>
        </p:txBody>
      </p:sp>
      <p:sp>
        <p:nvSpPr>
          <p:cNvPr id="26" name="Text 17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ຖ້າ Agent ເຮັດຜິດ ໄຟລ໌ຕົ້ນສະບັບຍັງຢູ່ຄົບ.</a:t>
            </a:r>
            <a:endParaRPr lang="lo-LA" sz="1600" dirty="0"/>
          </a:p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ລຶບ output/ ແລ້ວສັ່ງໃໝ່ໄດ້ທັນທີ.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30 ນາທີ · ຕິດຕັ້ງ ແລະ ຕັ້ງຄ່າ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ຕັ້ງຄ່າຄວາມປອດໄພ ກ່ອນເລີ່ມວຽກ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ການແລ່ນຄຳສັ່ງ</a:t>
            </a:r>
            <a:endParaRPr lang="lo-L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ໃຫ້ Agent ຂໍອະນຸຍາດທຸກຄັ້ງ ກ່ອນແລ່ນຄຳສັ່ງໃນ Terminal</a:t>
            </a:r>
            <a:endParaRPr lang="lo-LA" sz="18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547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ການກວດແຜນງານ</a:t>
            </a:r>
            <a:endParaRPr lang="lo-LA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ໃຫ້ Agent ສົ່ງແຜນມາໃຫ້ກວດກ່ອນ ສຳລັບວຽກໃຫຍ່</a:t>
            </a:r>
            <a:endParaRPr lang="lo-LA" sz="1800" dirty="0"/>
          </a:p>
        </p:txBody>
      </p:sp>
      <p:sp>
        <p:nvSpPr>
          <p:cNvPr id="14" name="Shape 10"/>
          <p:cNvSpPr/>
          <p:nvPr/>
        </p:nvSpPr>
        <p:spPr>
          <a:xfrm>
            <a:off x="8127797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125" y="221540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ຂອບເຂດໄຟລ໌</a:t>
            </a:r>
            <a:endParaRPr lang="lo-LA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ເປີດສະເພາະໂຟນເດີວຽກ ບໍ່ເປີດທັງໄດຣຟ໌ ຫຼື Desktop</a:t>
            </a:r>
            <a:endParaRPr lang="lo-LA" sz="1800" dirty="0"/>
          </a:p>
        </p:txBody>
      </p:sp>
      <p:sp>
        <p:nvSpPr>
          <p:cNvPr id="19" name="Shape 14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ຊື່ເມນູອາດຕ່າງກັນເລັກນ້ອຍຕາມເວີຊັນ. ຜູ້ສອນຈະສາທິດໃນໜ້າຈໍຈິງ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25 ນາທີ · ສ່ວນປະກອບຫຼັກ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ໜ້າຈໍ Antigravity: 4 ຈຸດທີ່ຕ້ອງຮູ້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223760" cy="4297680"/>
          </a:xfrm>
          <a:prstGeom prst="roundRect">
            <a:avLst>
              <a:gd name="adj" fmla="val 2128"/>
            </a:avLst>
          </a:prstGeom>
          <a:solidFill>
            <a:schemeClr val="bg1"/>
          </a:solidFill>
          <a:ln w="12700">
            <a:solidFill>
              <a:srgbClr val="D2DDDB"/>
            </a:solidFill>
            <a:prstDash val="solid"/>
          </a:ln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2167128"/>
            <a:ext cx="7187184" cy="9144"/>
          </a:xfrm>
          <a:prstGeom prst="rect">
            <a:avLst/>
          </a:prstGeom>
          <a:solidFill>
            <a:srgbClr val="D2DDDB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11096"/>
            <a:ext cx="137160" cy="137160"/>
          </a:xfrm>
          <a:prstGeom prst="ellipse">
            <a:avLst/>
          </a:prstGeom>
          <a:solidFill>
            <a:srgbClr val="B9402C"/>
          </a:solidFill>
          <a:ln/>
        </p:spPr>
      </p:sp>
      <p:sp>
        <p:nvSpPr>
          <p:cNvPr id="7" name="Shape 5"/>
          <p:cNvSpPr/>
          <p:nvPr/>
        </p:nvSpPr>
        <p:spPr>
          <a:xfrm>
            <a:off x="978408" y="1911096"/>
            <a:ext cx="137160" cy="137160"/>
          </a:xfrm>
          <a:prstGeom prst="ellipse">
            <a:avLst/>
          </a:prstGeom>
          <a:solidFill>
            <a:srgbClr val="FFD54A"/>
          </a:solidFill>
          <a:ln/>
        </p:spPr>
      </p:sp>
      <p:sp>
        <p:nvSpPr>
          <p:cNvPr id="8" name="Shape 6"/>
          <p:cNvSpPr/>
          <p:nvPr/>
        </p:nvSpPr>
        <p:spPr>
          <a:xfrm>
            <a:off x="1207008" y="1911096"/>
            <a:ext cx="137160" cy="137160"/>
          </a:xfrm>
          <a:prstGeom prst="ellipse">
            <a:avLst/>
          </a:prstGeom>
          <a:solidFill>
            <a:srgbClr val="137A55"/>
          </a:solidFill>
          <a:ln/>
        </p:spPr>
      </p:sp>
      <p:sp>
        <p:nvSpPr>
          <p:cNvPr id="9" name="Shape 7"/>
          <p:cNvSpPr/>
          <p:nvPr/>
        </p:nvSpPr>
        <p:spPr>
          <a:xfrm>
            <a:off x="5897880" y="1847088"/>
            <a:ext cx="1691640" cy="27432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897880" y="18470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100" b="1" dirty="0">
                <a:solidFill>
                  <a:schemeClr val="accent1"/>
                </a:solidFill>
              </a:rPr>
              <a:t>Agent Manager</a:t>
            </a:r>
            <a:endParaRPr lang="lo-LA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331720"/>
            <a:ext cx="1691640" cy="3611880"/>
          </a:xfrm>
          <a:prstGeom prst="roundRect">
            <a:avLst>
              <a:gd name="adj" fmla="val 3243"/>
            </a:avLst>
          </a:prstGeom>
          <a:solidFill>
            <a:schemeClr val="bg2"/>
          </a:solidFill>
          <a:ln/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514600"/>
            <a:ext cx="237744" cy="23774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143000" y="247802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dirty="0">
                <a:solidFill>
                  <a:schemeClr val="tx1"/>
                </a:solidFill>
              </a:rPr>
              <a:t>data/</a:t>
            </a:r>
            <a:endParaRPr lang="lo-LA" sz="13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926080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43000" y="288950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dirty="0">
                <a:solidFill>
                  <a:schemeClr val="tx1"/>
                </a:solidFill>
              </a:rPr>
              <a:t>templates/</a:t>
            </a:r>
            <a:endParaRPr lang="lo-LA" sz="13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337560"/>
            <a:ext cx="237744" cy="23774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143000" y="330098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dirty="0">
                <a:solidFill>
                  <a:schemeClr val="tx1"/>
                </a:solidFill>
              </a:rPr>
              <a:t>output/</a:t>
            </a:r>
            <a:endParaRPr lang="lo-LA" sz="13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749040"/>
            <a:ext cx="237744" cy="237744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1143000" y="3712464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300" dirty="0">
                <a:solidFill>
                  <a:schemeClr val="tx1"/>
                </a:solidFill>
              </a:rPr>
              <a:t>demo/</a:t>
            </a:r>
            <a:endParaRPr lang="lo-LA" sz="1300" dirty="0"/>
          </a:p>
        </p:txBody>
      </p:sp>
      <p:sp>
        <p:nvSpPr>
          <p:cNvPr id="20" name="Shape 14"/>
          <p:cNvSpPr/>
          <p:nvPr/>
        </p:nvSpPr>
        <p:spPr>
          <a:xfrm>
            <a:off x="2514600" y="2331720"/>
            <a:ext cx="3063240" cy="3611880"/>
          </a:xfrm>
          <a:prstGeom prst="roundRect">
            <a:avLst>
              <a:gd name="adj" fmla="val 1791"/>
            </a:avLst>
          </a:prstGeom>
          <a:solidFill>
            <a:schemeClr val="bg1"/>
          </a:solidFill>
          <a:ln w="9525">
            <a:solidFill>
              <a:srgbClr val="D2DDDB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2697480" y="2560320"/>
            <a:ext cx="822960" cy="201168"/>
          </a:xfrm>
          <a:prstGeom prst="rect">
            <a:avLst/>
          </a:prstGeom>
          <a:solidFill>
            <a:srgbClr val="25474D"/>
          </a:solidFill>
          <a:ln/>
        </p:spPr>
      </p:sp>
      <p:sp>
        <p:nvSpPr>
          <p:cNvPr id="22" name="Shape 16"/>
          <p:cNvSpPr/>
          <p:nvPr/>
        </p:nvSpPr>
        <p:spPr>
          <a:xfrm>
            <a:off x="3630168" y="2560320"/>
            <a:ext cx="822960" cy="201168"/>
          </a:xfrm>
          <a:prstGeom prst="rect">
            <a:avLst/>
          </a:prstGeom>
          <a:solidFill>
            <a:srgbClr val="25474D"/>
          </a:solidFill>
          <a:ln/>
        </p:spPr>
      </p:sp>
      <p:sp>
        <p:nvSpPr>
          <p:cNvPr id="23" name="Shape 17"/>
          <p:cNvSpPr/>
          <p:nvPr/>
        </p:nvSpPr>
        <p:spPr>
          <a:xfrm>
            <a:off x="4562856" y="2560320"/>
            <a:ext cx="822960" cy="201168"/>
          </a:xfrm>
          <a:prstGeom prst="rect">
            <a:avLst/>
          </a:prstGeom>
          <a:solidFill>
            <a:srgbClr val="25474D"/>
          </a:solidFill>
          <a:ln/>
        </p:spPr>
      </p:sp>
      <p:sp>
        <p:nvSpPr>
          <p:cNvPr id="24" name="Shape 18"/>
          <p:cNvSpPr/>
          <p:nvPr/>
        </p:nvSpPr>
        <p:spPr>
          <a:xfrm>
            <a:off x="2697480" y="297180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25" name="Shape 19"/>
          <p:cNvSpPr/>
          <p:nvPr/>
        </p:nvSpPr>
        <p:spPr>
          <a:xfrm>
            <a:off x="3630168" y="297180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26" name="Shape 20"/>
          <p:cNvSpPr/>
          <p:nvPr/>
        </p:nvSpPr>
        <p:spPr>
          <a:xfrm>
            <a:off x="4562856" y="297180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27" name="Shape 21"/>
          <p:cNvSpPr/>
          <p:nvPr/>
        </p:nvSpPr>
        <p:spPr>
          <a:xfrm>
            <a:off x="2697480" y="338328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28" name="Shape 22"/>
          <p:cNvSpPr/>
          <p:nvPr/>
        </p:nvSpPr>
        <p:spPr>
          <a:xfrm>
            <a:off x="3630168" y="338328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29" name="Shape 23"/>
          <p:cNvSpPr/>
          <p:nvPr/>
        </p:nvSpPr>
        <p:spPr>
          <a:xfrm>
            <a:off x="4562856" y="338328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30" name="Shape 24"/>
          <p:cNvSpPr/>
          <p:nvPr/>
        </p:nvSpPr>
        <p:spPr>
          <a:xfrm>
            <a:off x="2697480" y="379476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31" name="Shape 25"/>
          <p:cNvSpPr/>
          <p:nvPr/>
        </p:nvSpPr>
        <p:spPr>
          <a:xfrm>
            <a:off x="3630168" y="379476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32" name="Shape 26"/>
          <p:cNvSpPr/>
          <p:nvPr/>
        </p:nvSpPr>
        <p:spPr>
          <a:xfrm>
            <a:off x="4562856" y="379476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33" name="Shape 27"/>
          <p:cNvSpPr/>
          <p:nvPr/>
        </p:nvSpPr>
        <p:spPr>
          <a:xfrm>
            <a:off x="2697480" y="420624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34" name="Shape 28"/>
          <p:cNvSpPr/>
          <p:nvPr/>
        </p:nvSpPr>
        <p:spPr>
          <a:xfrm>
            <a:off x="3630168" y="420624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35" name="Shape 29"/>
          <p:cNvSpPr/>
          <p:nvPr/>
        </p:nvSpPr>
        <p:spPr>
          <a:xfrm>
            <a:off x="4562856" y="420624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36" name="Shape 30"/>
          <p:cNvSpPr/>
          <p:nvPr/>
        </p:nvSpPr>
        <p:spPr>
          <a:xfrm>
            <a:off x="2697480" y="461772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37" name="Shape 31"/>
          <p:cNvSpPr/>
          <p:nvPr/>
        </p:nvSpPr>
        <p:spPr>
          <a:xfrm>
            <a:off x="3630168" y="461772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38" name="Shape 32"/>
          <p:cNvSpPr/>
          <p:nvPr/>
        </p:nvSpPr>
        <p:spPr>
          <a:xfrm>
            <a:off x="4562856" y="461772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39" name="Shape 33"/>
          <p:cNvSpPr/>
          <p:nvPr/>
        </p:nvSpPr>
        <p:spPr>
          <a:xfrm>
            <a:off x="2697480" y="502920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40" name="Shape 34"/>
          <p:cNvSpPr/>
          <p:nvPr/>
        </p:nvSpPr>
        <p:spPr>
          <a:xfrm>
            <a:off x="3630168" y="502920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41" name="Shape 35"/>
          <p:cNvSpPr/>
          <p:nvPr/>
        </p:nvSpPr>
        <p:spPr>
          <a:xfrm>
            <a:off x="4562856" y="5029200"/>
            <a:ext cx="822960" cy="201168"/>
          </a:xfrm>
          <a:prstGeom prst="rect">
            <a:avLst/>
          </a:prstGeom>
          <a:solidFill>
            <a:srgbClr val="EEF2F1"/>
          </a:solidFill>
          <a:ln/>
        </p:spPr>
      </p:sp>
      <p:sp>
        <p:nvSpPr>
          <p:cNvPr id="42" name="Shape 36"/>
          <p:cNvSpPr/>
          <p:nvPr/>
        </p:nvSpPr>
        <p:spPr>
          <a:xfrm>
            <a:off x="5715000" y="2331720"/>
            <a:ext cx="1920240" cy="3611880"/>
          </a:xfrm>
          <a:prstGeom prst="roundRect">
            <a:avLst>
              <a:gd name="adj" fmla="val 2857"/>
            </a:avLst>
          </a:prstGeom>
          <a:solidFill>
            <a:schemeClr val="accent6"/>
          </a:solidFill>
          <a:ln/>
        </p:spPr>
      </p:sp>
      <p:sp>
        <p:nvSpPr>
          <p:cNvPr id="43" name="Shape 37"/>
          <p:cNvSpPr/>
          <p:nvPr/>
        </p:nvSpPr>
        <p:spPr>
          <a:xfrm>
            <a:off x="6172200" y="2560320"/>
            <a:ext cx="1325880" cy="640080"/>
          </a:xfrm>
          <a:prstGeom prst="roundRect">
            <a:avLst>
              <a:gd name="adj" fmla="val 11429"/>
            </a:avLst>
          </a:prstGeom>
          <a:solidFill>
            <a:schemeClr val="accent1"/>
          </a:solidFill>
          <a:ln/>
        </p:spPr>
      </p:sp>
      <p:sp>
        <p:nvSpPr>
          <p:cNvPr id="44" name="Text 38"/>
          <p:cNvSpPr txBox="1"/>
          <p:nvPr/>
        </p:nvSpPr>
        <p:spPr>
          <a:xfrm>
            <a:off x="6263640" y="2606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100" dirty="0">
                <a:solidFill>
                  <a:schemeClr val="bg1"/>
                </a:solidFill>
              </a:rPr>
              <a:t>ລວມ Excel 5 ສາຂາ</a:t>
            </a:r>
            <a:endParaRPr lang="lo-LA" sz="1100" dirty="0"/>
          </a:p>
        </p:txBody>
      </p:sp>
      <p:sp>
        <p:nvSpPr>
          <p:cNvPr id="45" name="Shape 39"/>
          <p:cNvSpPr/>
          <p:nvPr/>
        </p:nvSpPr>
        <p:spPr>
          <a:xfrm>
            <a:off x="5852160" y="3383280"/>
            <a:ext cx="1645920" cy="1097280"/>
          </a:xfrm>
          <a:prstGeom prst="roundRect">
            <a:avLst>
              <a:gd name="adj" fmla="val 6667"/>
            </a:avLst>
          </a:prstGeom>
          <a:solidFill>
            <a:schemeClr val="bg1"/>
          </a:solidFill>
          <a:ln/>
        </p:spPr>
      </p:sp>
      <p:sp>
        <p:nvSpPr>
          <p:cNvPr id="46" name="Text 40"/>
          <p:cNvSpPr txBox="1"/>
          <p:nvPr/>
        </p:nvSpPr>
        <p:spPr>
          <a:xfrm>
            <a:off x="5943600" y="3447288"/>
            <a:ext cx="1463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100" dirty="0">
                <a:solidFill>
                  <a:schemeClr val="tx1"/>
                </a:solidFill>
              </a:rPr>
              <a:t>ແຜນງານ 4 ຂັ້ນຕອນ ພ້ອມແລ້ວ. ກວດ ແລະ ອະນຸມັດໄດ້ເລີຍ</a:t>
            </a:r>
            <a:endParaRPr lang="lo-LA" sz="1100" dirty="0"/>
          </a:p>
        </p:txBody>
      </p:sp>
      <p:sp>
        <p:nvSpPr>
          <p:cNvPr id="47" name="Shape 41"/>
          <p:cNvSpPr/>
          <p:nvPr/>
        </p:nvSpPr>
        <p:spPr>
          <a:xfrm>
            <a:off x="5852160" y="5394960"/>
            <a:ext cx="164592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8" name="Text 42"/>
          <p:cNvSpPr txBox="1"/>
          <p:nvPr/>
        </p:nvSpPr>
        <p:spPr>
          <a:xfrm>
            <a:off x="5971032" y="539496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100" dirty="0">
                <a:solidFill>
                  <a:schemeClr val="accent5"/>
                </a:solidFill>
              </a:rPr>
              <a:t>ພິມຄຳສັ່ງ...</a:t>
            </a:r>
            <a:endParaRPr lang="lo-LA" sz="1100" dirty="0"/>
          </a:p>
        </p:txBody>
      </p:sp>
      <p:sp>
        <p:nvSpPr>
          <p:cNvPr id="49" name="Shape 43"/>
          <p:cNvSpPr/>
          <p:nvPr/>
        </p:nvSpPr>
        <p:spPr>
          <a:xfrm>
            <a:off x="2148840" y="2148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0" name="Text 44"/>
          <p:cNvSpPr txBox="1"/>
          <p:nvPr/>
        </p:nvSpPr>
        <p:spPr>
          <a:xfrm>
            <a:off x="21488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1</a:t>
            </a:r>
            <a:endParaRPr lang="lo-LA" sz="1400" dirty="0"/>
          </a:p>
        </p:txBody>
      </p:sp>
      <p:sp>
        <p:nvSpPr>
          <p:cNvPr id="51" name="Shape 45"/>
          <p:cNvSpPr/>
          <p:nvPr/>
        </p:nvSpPr>
        <p:spPr>
          <a:xfrm>
            <a:off x="5349240" y="2148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2" name="Text 46"/>
          <p:cNvSpPr txBox="1"/>
          <p:nvPr/>
        </p:nvSpPr>
        <p:spPr>
          <a:xfrm>
            <a:off x="53492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2</a:t>
            </a:r>
            <a:endParaRPr lang="lo-LA" sz="1400" dirty="0"/>
          </a:p>
        </p:txBody>
      </p:sp>
      <p:sp>
        <p:nvSpPr>
          <p:cNvPr id="53" name="Shape 47"/>
          <p:cNvSpPr/>
          <p:nvPr/>
        </p:nvSpPr>
        <p:spPr>
          <a:xfrm>
            <a:off x="7406640" y="2148840"/>
            <a:ext cx="384048" cy="38404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4" name="Text 48"/>
          <p:cNvSpPr txBox="1"/>
          <p:nvPr/>
        </p:nvSpPr>
        <p:spPr>
          <a:xfrm>
            <a:off x="7406640" y="2148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3</a:t>
            </a:r>
            <a:endParaRPr lang="lo-LA" sz="1400" dirty="0"/>
          </a:p>
        </p:txBody>
      </p:sp>
      <p:sp>
        <p:nvSpPr>
          <p:cNvPr id="55" name="Shape 49"/>
          <p:cNvSpPr/>
          <p:nvPr/>
        </p:nvSpPr>
        <p:spPr>
          <a:xfrm>
            <a:off x="5669280" y="1801368"/>
            <a:ext cx="347472" cy="347472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5669280" y="1801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4</a:t>
            </a:r>
            <a:endParaRPr lang="lo-LA" sz="1300" dirty="0"/>
          </a:p>
        </p:txBody>
      </p:sp>
      <p:sp>
        <p:nvSpPr>
          <p:cNvPr id="57" name="Shape 51"/>
          <p:cNvSpPr/>
          <p:nvPr/>
        </p:nvSpPr>
        <p:spPr>
          <a:xfrm>
            <a:off x="8183880" y="187452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8" name="Text 52"/>
          <p:cNvSpPr txBox="1"/>
          <p:nvPr/>
        </p:nvSpPr>
        <p:spPr>
          <a:xfrm>
            <a:off x="8183880" y="18745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tx1"/>
                </a:solidFill>
              </a:rPr>
              <a:t>1</a:t>
            </a:r>
            <a:endParaRPr lang="lo-LA" sz="1500" dirty="0"/>
          </a:p>
        </p:txBody>
      </p:sp>
      <p:sp>
        <p:nvSpPr>
          <p:cNvPr id="59" name="Text 53"/>
          <p:cNvSpPr txBox="1"/>
          <p:nvPr/>
        </p:nvSpPr>
        <p:spPr>
          <a:xfrm>
            <a:off x="8778240" y="1856232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Explorer</a:t>
            </a:r>
            <a:endParaRPr lang="lo-LA" sz="1800" dirty="0"/>
          </a:p>
        </p:txBody>
      </p:sp>
      <p:sp>
        <p:nvSpPr>
          <p:cNvPr id="60" name="Text 54"/>
          <p:cNvSpPr txBox="1"/>
          <p:nvPr/>
        </p:nvSpPr>
        <p:spPr>
          <a:xfrm>
            <a:off x="8778240" y="2258568"/>
            <a:ext cx="2864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ເບິ່ງໄຟລ໌ ແລະ ໂຟນເດີໃນ Workspace</a:t>
            </a:r>
            <a:endParaRPr lang="lo-LA" sz="1500" dirty="0"/>
          </a:p>
        </p:txBody>
      </p:sp>
      <p:sp>
        <p:nvSpPr>
          <p:cNvPr id="61" name="Shape 55"/>
          <p:cNvSpPr/>
          <p:nvPr/>
        </p:nvSpPr>
        <p:spPr>
          <a:xfrm>
            <a:off x="8183880" y="292608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2" name="Text 56"/>
          <p:cNvSpPr txBox="1"/>
          <p:nvPr/>
        </p:nvSpPr>
        <p:spPr>
          <a:xfrm>
            <a:off x="8183880" y="29260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tx1"/>
                </a:solidFill>
              </a:rPr>
              <a:t>2</a:t>
            </a:r>
            <a:endParaRPr lang="lo-LA" sz="1500" dirty="0"/>
          </a:p>
        </p:txBody>
      </p:sp>
      <p:sp>
        <p:nvSpPr>
          <p:cNvPr id="63" name="Text 57"/>
          <p:cNvSpPr txBox="1"/>
          <p:nvPr/>
        </p:nvSpPr>
        <p:spPr>
          <a:xfrm>
            <a:off x="8778240" y="2907792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Editor</a:t>
            </a:r>
            <a:endParaRPr lang="lo-LA" sz="1800" dirty="0"/>
          </a:p>
        </p:txBody>
      </p:sp>
      <p:sp>
        <p:nvSpPr>
          <p:cNvPr id="64" name="Text 58"/>
          <p:cNvSpPr txBox="1"/>
          <p:nvPr/>
        </p:nvSpPr>
        <p:spPr>
          <a:xfrm>
            <a:off x="8778240" y="3310128"/>
            <a:ext cx="2864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ເປີດອ່ານໄຟລ໌ ແລະ ຜົນລັບ</a:t>
            </a:r>
            <a:endParaRPr lang="lo-LA" sz="1500" dirty="0"/>
          </a:p>
        </p:txBody>
      </p:sp>
      <p:sp>
        <p:nvSpPr>
          <p:cNvPr id="65" name="Shape 59"/>
          <p:cNvSpPr/>
          <p:nvPr/>
        </p:nvSpPr>
        <p:spPr>
          <a:xfrm>
            <a:off x="8183880" y="397764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66" name="Text 60"/>
          <p:cNvSpPr txBox="1"/>
          <p:nvPr/>
        </p:nvSpPr>
        <p:spPr>
          <a:xfrm>
            <a:off x="8183880" y="39776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tx1"/>
                </a:solidFill>
              </a:rPr>
              <a:t>3</a:t>
            </a:r>
            <a:endParaRPr lang="lo-LA" sz="1500" dirty="0"/>
          </a:p>
        </p:txBody>
      </p:sp>
      <p:sp>
        <p:nvSpPr>
          <p:cNvPr id="67" name="Text 61"/>
          <p:cNvSpPr txBox="1"/>
          <p:nvPr/>
        </p:nvSpPr>
        <p:spPr>
          <a:xfrm>
            <a:off x="8778240" y="3959352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ແຖບ Agent</a:t>
            </a:r>
            <a:endParaRPr lang="lo-LA" sz="1800" dirty="0"/>
          </a:p>
        </p:txBody>
      </p:sp>
      <p:sp>
        <p:nvSpPr>
          <p:cNvPr id="68" name="Text 62"/>
          <p:cNvSpPr txBox="1"/>
          <p:nvPr/>
        </p:nvSpPr>
        <p:spPr>
          <a:xfrm>
            <a:off x="8778240" y="4361688"/>
            <a:ext cx="2864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ພິມຄຳສັ່ງ ແລະ ອ່ານລາຍງານຂອງ Agent</a:t>
            </a:r>
            <a:endParaRPr lang="lo-LA" sz="1500" dirty="0"/>
          </a:p>
        </p:txBody>
      </p:sp>
      <p:sp>
        <p:nvSpPr>
          <p:cNvPr id="69" name="Shape 63"/>
          <p:cNvSpPr/>
          <p:nvPr/>
        </p:nvSpPr>
        <p:spPr>
          <a:xfrm>
            <a:off x="8183880" y="5029200"/>
            <a:ext cx="420624" cy="420624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70" name="Text 64"/>
          <p:cNvSpPr txBox="1"/>
          <p:nvPr/>
        </p:nvSpPr>
        <p:spPr>
          <a:xfrm>
            <a:off x="8183880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tx1"/>
                </a:solidFill>
              </a:rPr>
              <a:t>4</a:t>
            </a:r>
            <a:endParaRPr lang="lo-LA" sz="1500" dirty="0"/>
          </a:p>
        </p:txBody>
      </p:sp>
      <p:sp>
        <p:nvSpPr>
          <p:cNvPr id="71" name="Text 65"/>
          <p:cNvSpPr txBox="1"/>
          <p:nvPr/>
        </p:nvSpPr>
        <p:spPr>
          <a:xfrm>
            <a:off x="8778240" y="5010912"/>
            <a:ext cx="28648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Agent Manager</a:t>
            </a:r>
            <a:endParaRPr lang="lo-LA" sz="1800" dirty="0"/>
          </a:p>
        </p:txBody>
      </p:sp>
      <p:sp>
        <p:nvSpPr>
          <p:cNvPr id="72" name="Text 66"/>
          <p:cNvSpPr txBox="1"/>
          <p:nvPr/>
        </p:nvSpPr>
        <p:spPr>
          <a:xfrm>
            <a:off x="8778240" y="5413248"/>
            <a:ext cx="28648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ໜ້າຕ່າງແຍກ ສຳລັບຄຸມຫຼາຍ Agent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25 ນາທີ · ສ່ວນປະກອບຫຼັກ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Artifacts: ຫຼັກຖານທີ່ Agent ສົ່ງໃຫ້ທ່ານກວດ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Task List</a:t>
            </a:r>
            <a:endParaRPr lang="lo-L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ລາຍການຂັ້ນຕອນ ແລະ ສະຖານະ: ເຮັດແລ້ວ, ກຳລັງເຮັດ, ລໍຖ້າ</a:t>
            </a:r>
            <a:endParaRPr lang="lo-LA" sz="18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547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Implementation Plan</a:t>
            </a:r>
            <a:endParaRPr lang="lo-LA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ແຜນງານລະອຽດກ່ອນລົງມື. ທ່ານ Comment ສັ່ງແກ້ໄດ້</a:t>
            </a:r>
            <a:endParaRPr lang="lo-LA" sz="1800" dirty="0"/>
          </a:p>
        </p:txBody>
      </p:sp>
      <p:sp>
        <p:nvSpPr>
          <p:cNvPr id="14" name="Shape 10"/>
          <p:cNvSpPr/>
          <p:nvPr/>
        </p:nvSpPr>
        <p:spPr>
          <a:xfrm>
            <a:off x="8127797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125" y="221540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Walkthrough</a:t>
            </a:r>
            <a:endParaRPr lang="lo-LA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ສະຫຼຸບສິ່ງທີ່ເຮັດ ພ້ອມພາບໜ້າຈໍ ແລະ ໄຟລ໌ຜົນລັບ</a:t>
            </a:r>
            <a:endParaRPr lang="lo-LA" sz="1800" dirty="0"/>
          </a:p>
        </p:txBody>
      </p:sp>
      <p:sp>
        <p:nvSpPr>
          <p:cNvPr id="19" name="Shape 14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ກົດຂອງຫ້ອງຮຽນ: ບໍ່ອ່ານ Artifact ບໍ່ໃຊ້ຜົນງານ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25 ນາທີ · ສ່ວນປະກອບຫຼັກ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Planning ຫຼື Fast: ເລືອກໂໝດໃຫ້ເໝາະກັບວຽກ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accent6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1"/>
                </a:solidFill>
              </a:rPr>
              <a:t>Planning</a:t>
            </a:r>
            <a:endParaRPr lang="lo-L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288036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ວຽກໃຫຍ່ ຫຼາຍຂັ້ນຕອນ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ຢາກກວດແຜນກ່ອນ Agent ລົງມື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ຕົວຢ່າງ: ສ້າງທະບຽນເຄລມຈາກ 100 ລາຍການ</a:t>
            </a:r>
            <a:endParaRPr lang="lo-LA" sz="1900" dirty="0"/>
          </a:p>
        </p:txBody>
      </p:sp>
      <p:sp>
        <p:nvSpPr>
          <p:cNvPr id="9" name="Shape 6"/>
          <p:cNvSpPr/>
          <p:nvPr/>
        </p:nvSpPr>
        <p:spPr>
          <a:xfrm>
            <a:off x="6278728" y="1783080"/>
            <a:ext cx="5364328" cy="3611880"/>
          </a:xfrm>
          <a:prstGeom prst="roundRect">
            <a:avLst>
              <a:gd name="adj" fmla="val 303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6598768" y="21031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41" y="2234794"/>
            <a:ext cx="285293" cy="285293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330288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Fast</a:t>
            </a:r>
            <a:endParaRPr lang="lo-LA" sz="2100" dirty="0"/>
          </a:p>
        </p:txBody>
      </p:sp>
      <p:sp>
        <p:nvSpPr>
          <p:cNvPr id="13" name="Text 9"/>
          <p:cNvSpPr txBox="1"/>
          <p:nvPr/>
        </p:nvSpPr>
        <p:spPr>
          <a:xfrm>
            <a:off x="6598768" y="2880360"/>
            <a:ext cx="47242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ວຽກນ້ອຍ ຈົບໃນຂັ້ນຕອນດຽວ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ຢາກໄດ້ຜົນໄວ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ຕົວຢ່າງ: ປ່ຽນຊື່ຖັນ, ແກ້ຮູບແບບວັນທີ</a:t>
            </a:r>
            <a:endParaRPr lang="lo-LA" sz="1900" dirty="0"/>
          </a:p>
        </p:txBody>
      </p:sp>
      <p:sp>
        <p:nvSpPr>
          <p:cNvPr id="14" name="Shape 10"/>
          <p:cNvSpPr/>
          <p:nvPr/>
        </p:nvSpPr>
        <p:spPr>
          <a:xfrm>
            <a:off x="548640" y="5696712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12" y="5788884"/>
            <a:ext cx="199705" cy="199705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097280" y="5696712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ບໍ່ແນ່ໃຈ ໃຫ້ເລືອກ Planning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45 ນາທີ · Workshop 1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Workshop 1: ຈັດລະບຽບຂໍ້ມູນ Excel ຈາກ 5 ສາຂາ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ຂໍ້ມູນນຳເຂົ້າ</a:t>
            </a:r>
            <a:endParaRPr lang="lo-L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5 ໄຟລ໌ຍອດເບ້ຍປະກັນໄພ ຈາກ 5 ສາຂາ ໃນໂຟນເດີ data/</a:t>
            </a:r>
            <a:endParaRPr lang="lo-LA" sz="18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1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057400"/>
            <a:ext cx="658368" cy="658368"/>
          </a:xfrm>
          <a:prstGeom prst="ellipse">
            <a:avLst/>
          </a:prstGeom>
          <a:solidFill>
            <a:srgbClr val="B9402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547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accent4"/>
                </a:solidFill>
              </a:rPr>
              <a:t>ບັນຫາທີ່ຝັງໄວ້</a:t>
            </a:r>
            <a:endParaRPr lang="lo-LA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ແຖວຊ້ຳກັນ, ວັນທີ 3 ຮູບແບບ, ເງິນມີທັງຄຳວ່າ "ກີບ" ແລະ ຈຸດ, ເບີໂທບໍ່ຄົບ</a:t>
            </a:r>
            <a:endParaRPr lang="lo-LA" sz="1800" dirty="0"/>
          </a:p>
        </p:txBody>
      </p:sp>
      <p:sp>
        <p:nvSpPr>
          <p:cNvPr id="14" name="Shape 10"/>
          <p:cNvSpPr/>
          <p:nvPr/>
        </p:nvSpPr>
        <p:spPr>
          <a:xfrm>
            <a:off x="8127797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accent6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057400"/>
            <a:ext cx="658368" cy="65836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125" y="221540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accent1"/>
                </a:solidFill>
              </a:rPr>
              <a:t>ຜົນລັບທີ່ຕ້ອງການ</a:t>
            </a:r>
            <a:endParaRPr lang="lo-LA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output/ລາຍງານສະຫຼຸບ.xlsx: ຊີດຂໍ້ມູນລວມ, ຊີດສະຫຼຸບ ແລະ ກຣາຟແທ່ງ</a:t>
            </a:r>
            <a:endParaRPr lang="lo-L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45 ນາທີ · Workshop 1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ຄຳສັ່ງ Workshop 1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ຂັ້ນຕອນ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ເປີດໂຟນເດີ Antigravity-Course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ເລືອກໂໝດ Planning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ພິມ ຫຼື ວາງຄຳສັ່ງນີ້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ອ່ານແຜນງານ ແລ້ວກົດອະນຸມັດ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5354361"/>
            <a:ext cx="209215" cy="20921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15568" y="52120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ລອງປ່ຽນຄຳສັ່ງເປັນພາສາຂອງທ່ານເອງ ແລ້ວທຽບຜົນກັບໝູ່</a:t>
            </a:r>
            <a:endParaRPr lang="lo-LA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PROMPT</a:t>
            </a:r>
            <a:endParaRPr lang="lo-LA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ເຈົ້າເປັນຜູ້ຊ່ວຍວຽກຫ້ອງການ. ໃນໂຟນເດີ data/ ມີໄຟລ໌ Excel ຍອດເບ້ຍປະກັນໄພຂອງ 5 ສາຂາ.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ໃຫ້ລວມເປັນຕາຕະລາງດຽວ, ລຶບແຖວທີ່ຊ້ຳກັນ,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ປັບວັນທີເປັນ ວວ/ດດ/ປປປປ ແລະ ຈຳນວນເງິນເປັນກີບ (ບໍ່ມີທົດສະນິຍົມ).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ສ້າງຊີດສະຫຼຸບຍອດຕາມສາຂາ ແລະ ຕາມເດືອນ ພ້ອມກຣາຟແທ່ງ.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ບັນທຶກເປັນ output/ລາຍງານສະຫຼຸບ.xlsx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ສຸດທ້າຍ ລາຍງານວ່າລຶບແຖວຊ້ຳໄປຈັກແຖວ ແລະ ແຖວໃດທີ່ຂໍ້ມູນບໍ່ຄົບ.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45 ນາທີ · Workshop 1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ກວດຜົນ 4 ຂໍ້ ກ່ອນສົ່ງຫົວໜ້າ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2975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0136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ຈຳນວນແຖວ: ກ່ອນລວມ ລົບ ແຖວຊ້ຳ ເທົ່າກັບ ຫຼັງລວມ</a:t>
            </a:r>
            <a:endParaRPr lang="lo-LA" sz="1900" dirty="0"/>
          </a:p>
        </p:txBody>
      </p:sp>
      <p:sp>
        <p:nvSpPr>
          <p:cNvPr id="7" name="Shape 4"/>
          <p:cNvSpPr/>
          <p:nvPr/>
        </p:nvSpPr>
        <p:spPr>
          <a:xfrm>
            <a:off x="1188720" y="254203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79843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7004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ຍອດລວມ: ທຽບກັບໄຟລ໌ຕົ້ນສະບັບ ຢ່າງໜ້ອຍ 1 ສາຂາ</a:t>
            </a:r>
            <a:endParaRPr lang="lo-LA" sz="1900" dirty="0"/>
          </a:p>
        </p:txBody>
      </p:sp>
      <p:sp>
        <p:nvSpPr>
          <p:cNvPr id="11" name="Shape 7"/>
          <p:cNvSpPr/>
          <p:nvPr/>
        </p:nvSpPr>
        <p:spPr>
          <a:xfrm>
            <a:off x="1188720" y="341071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56616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66711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3872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ວັນທີ: ທຸກແຖວເປັນ ວວ/ດດ/ປປປປ</a:t>
            </a:r>
            <a:endParaRPr lang="lo-LA" sz="1900" dirty="0"/>
          </a:p>
        </p:txBody>
      </p:sp>
      <p:sp>
        <p:nvSpPr>
          <p:cNvPr id="15" name="Shape 10"/>
          <p:cNvSpPr/>
          <p:nvPr/>
        </p:nvSpPr>
        <p:spPr>
          <a:xfrm>
            <a:off x="1188720" y="427939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53579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40740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ກຣາຟ: ຊື່ສາຂາ ແລະ ຕົວເລກ ກົງກັບຊີດສະຫຼຸບ</a:t>
            </a:r>
            <a:endParaRPr lang="lo-LA" sz="1900" dirty="0"/>
          </a:p>
        </p:txBody>
      </p:sp>
      <p:sp>
        <p:nvSpPr>
          <p:cNvPr id="19" name="Shape 13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20" name="Shape 14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ສັ່ງແກ້ຕໍ່ໄດ້ເລີຍ</a:t>
            </a:r>
            <a:endParaRPr lang="lo-LA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"ປ່ຽນເປັນກຣາຟວົງມົນ"</a:t>
            </a:r>
            <a:endParaRPr lang="lo-LA" sz="1600" dirty="0"/>
          </a:p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"ເພີ່ມຖັນ % ຂອງຍອດລວມ"</a:t>
            </a:r>
            <a:endParaRPr lang="lo-LA" sz="1600" dirty="0"/>
          </a:p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"ຮຽງສາຂາ ຈາກຍອດຫຼາຍໄປໜ້ອຍ"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1 · ສະຫຼຸບ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ສະຫຼຸບມື້ທີ 1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2975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0136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Agent ລົງມືເຮັດ: ວາງແຜນ, ເຮັດ, ກວດ ແລະ ລາຍງານ</a:t>
            </a:r>
            <a:endParaRPr lang="lo-LA" sz="1900" dirty="0"/>
          </a:p>
        </p:txBody>
      </p:sp>
      <p:sp>
        <p:nvSpPr>
          <p:cNvPr id="7" name="Shape 4"/>
          <p:cNvSpPr/>
          <p:nvPr/>
        </p:nvSpPr>
        <p:spPr>
          <a:xfrm>
            <a:off x="1188720" y="254203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79843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7004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ໂຟນເດີວຽກ: ຕົ້ນສະບັບຢູ່ data/ ຜົນລັບຢູ່ output/</a:t>
            </a:r>
            <a:endParaRPr lang="lo-LA" sz="1900" dirty="0"/>
          </a:p>
        </p:txBody>
      </p:sp>
      <p:sp>
        <p:nvSpPr>
          <p:cNvPr id="11" name="Shape 7"/>
          <p:cNvSpPr/>
          <p:nvPr/>
        </p:nvSpPr>
        <p:spPr>
          <a:xfrm>
            <a:off x="1188720" y="341071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56616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66711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3872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ອ່ານ Artifacts ທຸກຄັ້ງ ກ່ອນໃຊ້ຜົນງານ</a:t>
            </a:r>
            <a:endParaRPr lang="lo-LA" sz="1900" dirty="0"/>
          </a:p>
        </p:txBody>
      </p:sp>
      <p:sp>
        <p:nvSpPr>
          <p:cNvPr id="15" name="Shape 10"/>
          <p:cNvSpPr/>
          <p:nvPr/>
        </p:nvSpPr>
        <p:spPr>
          <a:xfrm>
            <a:off x="1188720" y="427939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53579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40740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ກວດຜົນ: ຈຳນວນແຖວ, ຍອດລວມ, ຮູບແບບ</a:t>
            </a:r>
            <a:endParaRPr lang="lo-LA" sz="1900" dirty="0"/>
          </a:p>
        </p:txBody>
      </p:sp>
      <p:sp>
        <p:nvSpPr>
          <p:cNvPr id="19" name="Shape 13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20" name="Shape 14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ການບ້ານ</a:t>
            </a:r>
            <a:endParaRPr lang="lo-LA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ເລືອກວຽກ Excel 1 ຢ່າງຂອງທ່ານ ທີ່ຂໍ້ມູນບໍ່ລັບ ແລ້ວລອງສັ່ງ Agent ເຮັດ.</a:t>
            </a:r>
            <a:endParaRPr lang="lo-LA" sz="1600" dirty="0"/>
          </a:p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ມື້ອື່ນ ເລົ່າໃຫ້ໝູ່ຟັງ 1 ນາທີ.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86868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8800" b="1" dirty="0">
                <a:solidFill>
                  <a:schemeClr val="accent2"/>
                </a:solidFill>
              </a:rPr>
              <a:t>02</a:t>
            </a:r>
            <a:endParaRPr lang="lo-LA" sz="8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514600"/>
            <a:ext cx="5394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bg2"/>
                </a:solidFill>
              </a:rPr>
              <a:t>ມື້ທີ 2 · ວັນອາທິດ · 2 ຊົ່ວໂມງ</a:t>
            </a:r>
            <a:endParaRPr lang="lo-LA" sz="16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017520"/>
            <a:ext cx="53949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400" b="1" dirty="0">
                <a:solidFill>
                  <a:schemeClr val="bg1"/>
                </a:solidFill>
              </a:rPr>
              <a:t>ໃຊ້ Antigravity ກັບວຽກເຄລມປະກັນໄພ</a:t>
            </a:r>
            <a:endParaRPr lang="lo-LA" sz="3400" dirty="0"/>
          </a:p>
        </p:txBody>
      </p:sp>
      <p:sp>
        <p:nvSpPr>
          <p:cNvPr id="5" name="Shape 3"/>
          <p:cNvSpPr/>
          <p:nvPr/>
        </p:nvSpPr>
        <p:spPr>
          <a:xfrm>
            <a:off x="6492240" y="114300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92240" y="11430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20 ນາທີ</a:t>
            </a:r>
            <a:endParaRPr lang="lo-LA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909560" y="112471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ສູດສັ່ງງານ Agent 5 ຂໍ້</a:t>
            </a:r>
            <a:endParaRPr lang="lo-LA" sz="1800" dirty="0"/>
          </a:p>
        </p:txBody>
      </p:sp>
      <p:sp>
        <p:nvSpPr>
          <p:cNvPr id="8" name="Shape 6"/>
          <p:cNvSpPr/>
          <p:nvPr/>
        </p:nvSpPr>
        <p:spPr>
          <a:xfrm>
            <a:off x="6492240" y="205740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224028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240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40 ນາທີ</a:t>
            </a:r>
            <a:endParaRPr lang="lo-LA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22199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Workshop 2: ທະບຽນຕິດຕາມເຄລມ</a:t>
            </a:r>
            <a:endParaRPr lang="lo-LA" sz="1800" dirty="0"/>
          </a:p>
        </p:txBody>
      </p:sp>
      <p:sp>
        <p:nvSpPr>
          <p:cNvPr id="12" name="Shape 10"/>
          <p:cNvSpPr/>
          <p:nvPr/>
        </p:nvSpPr>
        <p:spPr>
          <a:xfrm>
            <a:off x="6492240" y="315468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333756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3375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tx1"/>
                </a:solidFill>
              </a:rPr>
              <a:t>40 ນາທີ</a:t>
            </a:r>
            <a:endParaRPr lang="lo-LA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909560" y="331927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Workshop 3: ຈົດໝາຍເຄລມອັດຕະໂນມັດ</a:t>
            </a:r>
            <a:endParaRPr lang="lo-LA" sz="1800" dirty="0"/>
          </a:p>
        </p:txBody>
      </p:sp>
      <p:sp>
        <p:nvSpPr>
          <p:cNvPr id="16" name="Shape 14"/>
          <p:cNvSpPr/>
          <p:nvPr/>
        </p:nvSpPr>
        <p:spPr>
          <a:xfrm>
            <a:off x="6492240" y="4251960"/>
            <a:ext cx="5148072" cy="0"/>
          </a:xfrm>
          <a:prstGeom prst="line">
            <a:avLst/>
          </a:prstGeom>
          <a:noFill/>
          <a:ln w="12700">
            <a:solidFill>
              <a:srgbClr val="25474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4434840"/>
            <a:ext cx="1188720" cy="384048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43484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300" b="1" dirty="0">
                <a:solidFill>
                  <a:schemeClr val="bg1"/>
                </a:solidFill>
              </a:rPr>
              <a:t>20 ນາທີ</a:t>
            </a:r>
            <a:endParaRPr lang="lo-LA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7909560" y="4416552"/>
            <a:ext cx="37307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ຄວາມປອດໄພຂໍ້ມູນ ແລະ ສະຫຼຸບ</a:t>
            </a:r>
            <a:endParaRPr lang="lo-L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A6BDBA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20 ນາທີ · ສູດສັ່ງງານ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ສູດສັ່ງງານ Agent 5 ຂໍ້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970166" cy="411480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1</a:t>
            </a:r>
            <a:endParaRPr lang="lo-LA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ບົດບາດ</a:t>
            </a:r>
            <a:endParaRPr lang="lo-LA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04672" y="3520440"/>
            <a:ext cx="15129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Agent ເປັນໃຜ ໃນວຽກນີ້</a:t>
            </a:r>
            <a:endParaRPr lang="lo-LA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846320"/>
            <a:ext cx="1604406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4910328"/>
            <a:ext cx="133008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i="1" dirty="0">
                <a:solidFill>
                  <a:schemeClr val="tx1"/>
                </a:solidFill>
              </a:rPr>
              <a:t>ເຈົ້າເປັນຜູ້ຊ່ວຍພະແນກເຄລມ</a:t>
            </a:r>
            <a:endParaRPr lang="lo-LA" sz="1500" dirty="0"/>
          </a:p>
        </p:txBody>
      </p:sp>
      <p:sp>
        <p:nvSpPr>
          <p:cNvPr id="11" name="Shape 9"/>
          <p:cNvSpPr/>
          <p:nvPr/>
        </p:nvSpPr>
        <p:spPr>
          <a:xfrm rot="5400000">
            <a:off x="2591958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2" name="Shape 10"/>
          <p:cNvSpPr/>
          <p:nvPr/>
        </p:nvSpPr>
        <p:spPr>
          <a:xfrm>
            <a:off x="2829702" y="1783080"/>
            <a:ext cx="1970166" cy="411480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3085734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85734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2</a:t>
            </a:r>
            <a:endParaRPr lang="lo-LA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3085734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ເປົ້າໝາຍ</a:t>
            </a:r>
            <a:endParaRPr lang="lo-LA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085734" y="3520440"/>
            <a:ext cx="15129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ຢາກໄດ້ຜົນຫຍັງ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3012582" y="4846320"/>
            <a:ext cx="1604406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149742" y="4910328"/>
            <a:ext cx="133008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i="1" dirty="0">
                <a:solidFill>
                  <a:schemeClr val="tx1"/>
                </a:solidFill>
              </a:rPr>
              <a:t>ສ້າງທະບຽນຕິດຕາມເຄລມ</a:t>
            </a:r>
            <a:endParaRPr lang="lo-LA" sz="1500" dirty="0"/>
          </a:p>
        </p:txBody>
      </p:sp>
      <p:sp>
        <p:nvSpPr>
          <p:cNvPr id="19" name="Shape 17"/>
          <p:cNvSpPr/>
          <p:nvPr/>
        </p:nvSpPr>
        <p:spPr>
          <a:xfrm rot="5400000">
            <a:off x="4873020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0" name="Shape 18"/>
          <p:cNvSpPr/>
          <p:nvPr/>
        </p:nvSpPr>
        <p:spPr>
          <a:xfrm>
            <a:off x="5110764" y="1783080"/>
            <a:ext cx="1970166" cy="411480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5366796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66796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3</a:t>
            </a:r>
            <a:endParaRPr lang="lo-LA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366796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ຂໍ້ມູນນຳເຂົ້າ</a:t>
            </a:r>
            <a:endParaRPr lang="lo-LA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5366796" y="3520440"/>
            <a:ext cx="15129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ໃຊ້ໄຟລ໌ໃດ ຢູ່ໃສ</a:t>
            </a:r>
            <a:endParaRPr lang="lo-LA" sz="1600" dirty="0"/>
          </a:p>
        </p:txBody>
      </p:sp>
      <p:sp>
        <p:nvSpPr>
          <p:cNvPr id="25" name="Shape 23"/>
          <p:cNvSpPr/>
          <p:nvPr/>
        </p:nvSpPr>
        <p:spPr>
          <a:xfrm>
            <a:off x="5293644" y="4846320"/>
            <a:ext cx="1604406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430804" y="4910328"/>
            <a:ext cx="133008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i="1" dirty="0">
                <a:solidFill>
                  <a:schemeClr val="tx1"/>
                </a:solidFill>
              </a:rPr>
              <a:t>ໄຟລ໌ເຄລມ 100 ລາຍການ ໃນ data/</a:t>
            </a:r>
            <a:endParaRPr lang="lo-LA" sz="1500" dirty="0"/>
          </a:p>
        </p:txBody>
      </p:sp>
      <p:sp>
        <p:nvSpPr>
          <p:cNvPr id="27" name="Shape 25"/>
          <p:cNvSpPr/>
          <p:nvPr/>
        </p:nvSpPr>
        <p:spPr>
          <a:xfrm rot="5400000">
            <a:off x="7154083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8" name="Shape 26"/>
          <p:cNvSpPr/>
          <p:nvPr/>
        </p:nvSpPr>
        <p:spPr>
          <a:xfrm>
            <a:off x="7391827" y="1783080"/>
            <a:ext cx="1970166" cy="411480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7647859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7647859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4</a:t>
            </a:r>
            <a:endParaRPr lang="lo-LA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647859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ຮູບແບບຜົນລັບ</a:t>
            </a:r>
            <a:endParaRPr lang="lo-LA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647859" y="3520440"/>
            <a:ext cx="15129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ໄຟລ໌ແບບໃດ ບັນທຶກບ່ອນໃດ</a:t>
            </a:r>
            <a:endParaRPr lang="lo-LA" sz="1600" dirty="0"/>
          </a:p>
        </p:txBody>
      </p:sp>
      <p:sp>
        <p:nvSpPr>
          <p:cNvPr id="33" name="Shape 31"/>
          <p:cNvSpPr/>
          <p:nvPr/>
        </p:nvSpPr>
        <p:spPr>
          <a:xfrm>
            <a:off x="7574707" y="4846320"/>
            <a:ext cx="1604406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711867" y="4910328"/>
            <a:ext cx="133008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i="1" dirty="0">
                <a:solidFill>
                  <a:schemeClr val="tx1"/>
                </a:solidFill>
              </a:rPr>
              <a:t>Excel 2 ຊີດ ບັນທຶກໃນ output/</a:t>
            </a:r>
            <a:endParaRPr lang="lo-LA" sz="1500" dirty="0"/>
          </a:p>
        </p:txBody>
      </p:sp>
      <p:sp>
        <p:nvSpPr>
          <p:cNvPr id="35" name="Shape 33"/>
          <p:cNvSpPr/>
          <p:nvPr/>
        </p:nvSpPr>
        <p:spPr>
          <a:xfrm rot="5400000">
            <a:off x="9435145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36" name="Shape 34"/>
          <p:cNvSpPr/>
          <p:nvPr/>
        </p:nvSpPr>
        <p:spPr>
          <a:xfrm>
            <a:off x="9672889" y="1783080"/>
            <a:ext cx="1970166" cy="4114800"/>
          </a:xfrm>
          <a:prstGeom prst="roundRect">
            <a:avLst>
              <a:gd name="adj" fmla="val 5569"/>
            </a:avLst>
          </a:prstGeom>
          <a:solidFill>
            <a:schemeClr val="bg2"/>
          </a:solidFill>
          <a:ln/>
        </p:spPr>
      </p:sp>
      <p:sp>
        <p:nvSpPr>
          <p:cNvPr id="37" name="Shape 35"/>
          <p:cNvSpPr/>
          <p:nvPr/>
        </p:nvSpPr>
        <p:spPr>
          <a:xfrm>
            <a:off x="9928921" y="20574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928921" y="20574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800" b="1" dirty="0">
                <a:solidFill>
                  <a:schemeClr val="bg1"/>
                </a:solidFill>
              </a:rPr>
              <a:t>5</a:t>
            </a:r>
            <a:endParaRPr lang="lo-LA" sz="1800" dirty="0"/>
          </a:p>
        </p:txBody>
      </p:sp>
      <p:sp>
        <p:nvSpPr>
          <p:cNvPr id="39" name="Text 37"/>
          <p:cNvSpPr txBox="1"/>
          <p:nvPr/>
        </p:nvSpPr>
        <p:spPr>
          <a:xfrm>
            <a:off x="9928921" y="2834640"/>
            <a:ext cx="151296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b="1" dirty="0">
                <a:solidFill>
                  <a:schemeClr val="tx1"/>
                </a:solidFill>
              </a:rPr>
              <a:t>ການກວດສອບ</a:t>
            </a:r>
            <a:endParaRPr lang="lo-LA" sz="1800" dirty="0"/>
          </a:p>
        </p:txBody>
      </p:sp>
      <p:sp>
        <p:nvSpPr>
          <p:cNvPr id="40" name="Text 38"/>
          <p:cNvSpPr txBox="1"/>
          <p:nvPr/>
        </p:nvSpPr>
        <p:spPr>
          <a:xfrm>
            <a:off x="9928921" y="3520440"/>
            <a:ext cx="151296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accent5"/>
                </a:solidFill>
              </a:rPr>
              <a:t>ຮູ້ໄດ້ແນວໃດວ່າຖືກ</a:t>
            </a:r>
            <a:endParaRPr lang="lo-LA" sz="1600" dirty="0"/>
          </a:p>
        </p:txBody>
      </p:sp>
      <p:sp>
        <p:nvSpPr>
          <p:cNvPr id="41" name="Shape 39"/>
          <p:cNvSpPr/>
          <p:nvPr/>
        </p:nvSpPr>
        <p:spPr>
          <a:xfrm>
            <a:off x="9855769" y="4846320"/>
            <a:ext cx="1604406" cy="868680"/>
          </a:xfrm>
          <a:prstGeom prst="roundRect">
            <a:avLst>
              <a:gd name="adj" fmla="val 8421"/>
            </a:avLst>
          </a:prstGeom>
          <a:solidFill>
            <a:schemeClr val="bg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992929" y="4910328"/>
            <a:ext cx="133008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i="1" dirty="0">
                <a:solidFill>
                  <a:schemeClr val="tx1"/>
                </a:solidFill>
              </a:rPr>
              <a:t>ລວມທັງໝົດ ຕ້ອງເທົ່າກັບ 100 ເຄລມ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20 ນາທີ · ສູດສັ່ງງານ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ປັບຄຳສັ່ງ: ຈາກກວ້າງ ເປັນຊັດເຈນ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6432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B9402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0354" y="2234794"/>
            <a:ext cx="285293" cy="28529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4"/>
                </a:solidFill>
              </a:rPr>
              <a:t>ກ່ອນ</a:t>
            </a:r>
            <a:endParaRPr lang="lo-LA" sz="2100" dirty="0"/>
          </a:p>
        </p:txBody>
      </p:sp>
      <p:sp>
        <p:nvSpPr>
          <p:cNvPr id="8" name="Shape 5"/>
          <p:cNvSpPr/>
          <p:nvPr/>
        </p:nvSpPr>
        <p:spPr>
          <a:xfrm>
            <a:off x="868680" y="2880360"/>
            <a:ext cx="4724248" cy="685800"/>
          </a:xfrm>
          <a:prstGeom prst="roundRect">
            <a:avLst>
              <a:gd name="adj" fmla="val 10667"/>
            </a:avLst>
          </a:prstGeom>
          <a:solidFill>
            <a:schemeClr val="bg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1051560" y="3017520"/>
            <a:ext cx="435848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i="1" dirty="0">
                <a:solidFill>
                  <a:schemeClr val="tx1"/>
                </a:solidFill>
              </a:rPr>
              <a:t>"ສະຫຼຸບເຄລມໃຫ້ແດ່"</a:t>
            </a:r>
            <a:endParaRPr lang="lo-LA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840480"/>
            <a:ext cx="472424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ບໍ່ຮູ້ວ່າໃຊ້ໄຟລ໌ໃດ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ບໍ່ຮູ້ວ່າສະຫຼຸບແບບໃດ</a:t>
            </a:r>
            <a:endParaRPr lang="lo-LA" sz="19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lo-LA" altLang="en-US" sz="1900" dirty="0">
                <a:solidFill>
                  <a:schemeClr val="tx1"/>
                </a:solidFill>
              </a:rPr>
              <a:t>ບໍ່ມີວິທີກວດຜົນ</a:t>
            </a:r>
            <a:endParaRPr lang="lo-LA" sz="1900" dirty="0"/>
          </a:p>
        </p:txBody>
      </p:sp>
      <p:sp>
        <p:nvSpPr>
          <p:cNvPr id="11" name="Shape 8"/>
          <p:cNvSpPr/>
          <p:nvPr/>
        </p:nvSpPr>
        <p:spPr>
          <a:xfrm>
            <a:off x="6278728" y="1783080"/>
            <a:ext cx="5364328" cy="4297680"/>
          </a:xfrm>
          <a:prstGeom prst="roundRect">
            <a:avLst>
              <a:gd name="adj" fmla="val 2553"/>
            </a:avLst>
          </a:prstGeom>
          <a:solidFill>
            <a:schemeClr val="bg2"/>
          </a:solidFill>
          <a:ln/>
        </p:spPr>
      </p:sp>
      <p:sp>
        <p:nvSpPr>
          <p:cNvPr id="12" name="Shape 9"/>
          <p:cNvSpPr/>
          <p:nvPr/>
        </p:nvSpPr>
        <p:spPr>
          <a:xfrm>
            <a:off x="6598768" y="2103120"/>
            <a:ext cx="548640" cy="548640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0441" y="22347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330288" y="2103120"/>
            <a:ext cx="39927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accent3"/>
                </a:solidFill>
              </a:rPr>
              <a:t>ຫຼັງ</a:t>
            </a:r>
            <a:endParaRPr lang="lo-LA" sz="2100" dirty="0"/>
          </a:p>
        </p:txBody>
      </p:sp>
      <p:sp>
        <p:nvSpPr>
          <p:cNvPr id="15" name="Shape 11"/>
          <p:cNvSpPr/>
          <p:nvPr/>
        </p:nvSpPr>
        <p:spPr>
          <a:xfrm>
            <a:off x="6598768" y="2880360"/>
            <a:ext cx="4724248" cy="2194560"/>
          </a:xfrm>
          <a:prstGeom prst="roundRect">
            <a:avLst>
              <a:gd name="adj" fmla="val 3333"/>
            </a:avLst>
          </a:prstGeom>
          <a:solidFill>
            <a:schemeClr val="bg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6781648" y="3017520"/>
            <a:ext cx="4358488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i="1" dirty="0">
                <a:solidFill>
                  <a:schemeClr val="tx1"/>
                </a:solidFill>
              </a:rPr>
              <a:t>"ເຈົ້າເປັນຜູ້ຊ່ວຍພະແນກເຄລມ. ຈາກ data/claims_sample.xlsx ໃຫ້ສະຫຼຸບຈຳນວນ ແລະ ຍອດເງິນຕາມປະເພດເຄລມ ເປັນ Excel ໃນ output/. ລວມທັງໝົດຕ້ອງເທົ່າກັບ 100 ເຄລມ."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20 ນາທີ · ສູດສັ່ງງານ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ຝຶກ 5 ນາທີ: ປັບຄຳສັ່ງນີ້ໃຫ້ຄົບ 5 ຂໍ້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4415" cy="1234440"/>
          </a:xfrm>
          <a:prstGeom prst="roundRect">
            <a:avLst>
              <a:gd name="adj" fmla="val 8889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194767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300" b="1" dirty="0">
                <a:solidFill>
                  <a:schemeClr val="accent4"/>
                </a:solidFill>
              </a:rPr>
              <a:t>ຄຳສັ່ງເດີມ</a:t>
            </a:r>
            <a:endParaRPr lang="lo-LA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286000"/>
            <a:ext cx="1036289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400" b="1" dirty="0">
                <a:solidFill>
                  <a:schemeClr val="tx1"/>
                </a:solidFill>
              </a:rPr>
              <a:t>"ເຮັດຈົດໝາຍໃຫ້ລູກຄ້າທີ່ເອກະສານບໍ່ຄົບ"</a:t>
            </a:r>
            <a:endParaRPr lang="lo-LA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33756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b="1" dirty="0">
                <a:solidFill>
                  <a:schemeClr val="accent1"/>
                </a:solidFill>
              </a:rPr>
              <a:t>ຖາມຕົວເອງ 5 ຄຳຖາມ</a:t>
            </a:r>
            <a:endParaRPr lang="lo-LA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94760"/>
            <a:ext cx="2036003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4005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1</a:t>
            </a:r>
            <a:endParaRPr lang="lo-LA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5262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Agent ເປັນໃຜ?</a:t>
            </a:r>
            <a:endParaRPr lang="lo-LA" sz="1600" dirty="0"/>
          </a:p>
        </p:txBody>
      </p:sp>
      <p:sp>
        <p:nvSpPr>
          <p:cNvPr id="12" name="Shape 10"/>
          <p:cNvSpPr/>
          <p:nvPr/>
        </p:nvSpPr>
        <p:spPr>
          <a:xfrm>
            <a:off x="2813243" y="3794760"/>
            <a:ext cx="2036003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</p:spPr>
      </p:sp>
      <p:sp>
        <p:nvSpPr>
          <p:cNvPr id="13" name="Shape 11"/>
          <p:cNvSpPr/>
          <p:nvPr/>
        </p:nvSpPr>
        <p:spPr>
          <a:xfrm>
            <a:off x="3041843" y="4005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3041843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2</a:t>
            </a:r>
            <a:endParaRPr lang="lo-LA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041843" y="45262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ໃຊ້ໄຟລ໌ໃດ?</a:t>
            </a:r>
            <a:endParaRPr lang="lo-LA" sz="1600" dirty="0"/>
          </a:p>
        </p:txBody>
      </p:sp>
      <p:sp>
        <p:nvSpPr>
          <p:cNvPr id="16" name="Shape 14"/>
          <p:cNvSpPr/>
          <p:nvPr/>
        </p:nvSpPr>
        <p:spPr>
          <a:xfrm>
            <a:off x="5077846" y="3794760"/>
            <a:ext cx="2036003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</p:spPr>
      </p:sp>
      <p:sp>
        <p:nvSpPr>
          <p:cNvPr id="17" name="Shape 15"/>
          <p:cNvSpPr/>
          <p:nvPr/>
        </p:nvSpPr>
        <p:spPr>
          <a:xfrm>
            <a:off x="5306446" y="4005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306446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3</a:t>
            </a:r>
            <a:endParaRPr lang="lo-LA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306446" y="45262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ໃຊ້ແມ່ແບບໃດ?</a:t>
            </a:r>
            <a:endParaRPr lang="lo-LA" sz="1600" dirty="0"/>
          </a:p>
        </p:txBody>
      </p:sp>
      <p:sp>
        <p:nvSpPr>
          <p:cNvPr id="20" name="Shape 18"/>
          <p:cNvSpPr/>
          <p:nvPr/>
        </p:nvSpPr>
        <p:spPr>
          <a:xfrm>
            <a:off x="7342449" y="3794760"/>
            <a:ext cx="2036003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</p:spPr>
      </p:sp>
      <p:sp>
        <p:nvSpPr>
          <p:cNvPr id="21" name="Shape 19"/>
          <p:cNvSpPr/>
          <p:nvPr/>
        </p:nvSpPr>
        <p:spPr>
          <a:xfrm>
            <a:off x="7571049" y="4005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571049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4</a:t>
            </a:r>
            <a:endParaRPr lang="lo-LA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571049" y="45262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ບັນທຶກບ່ອນໃດ?</a:t>
            </a:r>
            <a:endParaRPr lang="lo-LA" sz="1600" dirty="0"/>
          </a:p>
        </p:txBody>
      </p:sp>
      <p:sp>
        <p:nvSpPr>
          <p:cNvPr id="24" name="Shape 22"/>
          <p:cNvSpPr/>
          <p:nvPr/>
        </p:nvSpPr>
        <p:spPr>
          <a:xfrm>
            <a:off x="9607052" y="3794760"/>
            <a:ext cx="2036003" cy="1508760"/>
          </a:xfrm>
          <a:prstGeom prst="roundRect">
            <a:avLst>
              <a:gd name="adj" fmla="val 7273"/>
            </a:avLst>
          </a:prstGeom>
          <a:solidFill>
            <a:schemeClr val="bg1"/>
          </a:solidFill>
          <a:ln/>
        </p:spPr>
      </p:sp>
      <p:sp>
        <p:nvSpPr>
          <p:cNvPr id="25" name="Shape 23"/>
          <p:cNvSpPr/>
          <p:nvPr/>
        </p:nvSpPr>
        <p:spPr>
          <a:xfrm>
            <a:off x="9835652" y="4005072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835652" y="4005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500" b="1" dirty="0">
                <a:solidFill>
                  <a:schemeClr val="bg1"/>
                </a:solidFill>
              </a:rPr>
              <a:t>5</a:t>
            </a:r>
            <a:endParaRPr lang="lo-LA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835652" y="4526280"/>
            <a:ext cx="157880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ກວດແນວໃດ?</a:t>
            </a:r>
            <a:endParaRPr lang="lo-LA" sz="1600" dirty="0"/>
          </a:p>
        </p:txBody>
      </p:sp>
      <p:sp>
        <p:nvSpPr>
          <p:cNvPr id="28" name="Shape 26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ຂຽນໃສ່ເຈ້ຍ ຫຼື Notepad ກ່ອນ. ຍັງບໍ່ຕ້ອງແລ່ນ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40 ນາທີ · Workshop 2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Workshop 2: ຮູ້ຈັກຂໍ້ມູນເຄລມ 100 ລາຍການ</a:t>
            </a:r>
            <a:endParaRPr lang="lo-LA" sz="3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937760"/>
                <a:gridCol w="3413455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ຖັນ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ຕົວຢ່າງ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ໃຊ້ເຮັດຫຍັງ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ເລກເຄລມ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CLM-2026-0142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ລະຫັດບໍ່ຊ້ຳກັນ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ວັນທີແຈ້ງ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02/09/2026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ນັບມື້ທີ່ຄ້າງ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ປະເພດ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ລົດ / ສຸຂະພາບ / ອຸປະຕິເຫດ / ຊັບສິນ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ສະຫຼຸບຕາມປະເພດ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ຜູ້ເອົາປະກັນ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ລູກຄ້າ_017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ຂໍ້ມູນສົມມຸດ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ຍອດເຄລມ (ກີບ)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8,450,000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ສະຫຼຸບຍອດເງິນ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ສະຖານະ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ລໍຖ້າເອກະສານ / ກຳລັງພິຈາລະນາ / ປິດແລ້ວ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ເລືອກເຄລມທີ່ຍັງເປີດ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ເອກະສານທີ່ໄດ້ຮັບ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5/6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ໃຊ້ໃນ Workshop 3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40 ນາທີ · Workshop 2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ຄຳສັ່ງ Workshop 2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ຂັ້ນຕອນ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ເລືອກໂໝດ Planning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ວາງຄຳສັ່ງ ແລະ ອ່ານແຜນງານ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Comment ຖ້າແຜນບໍ່ກົງໃຈ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ກວດໄຟລ໌ໃນ output/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5354361"/>
            <a:ext cx="209215" cy="20921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15568" y="52120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ປັບກົດສີ (15 ມື້, 10 ມື້) ຕາມ SLA ຂອງອົງກອນທ່ານໄດ້</a:t>
            </a:r>
            <a:endParaRPr lang="lo-LA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PROMPT</a:t>
            </a:r>
            <a:endParaRPr lang="lo-LA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ເຈົ້າເປັນຜູ້ຊ່ວຍພະແນກເຄລມ.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ໄຟລ໌ data/claims_sample.xlsx ມີເຄລມ 100 ລາຍການ.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ເປົ້າໝາຍ: ສ້າງທະບຽນຕິດຕາມເຄລມ.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 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1) ເພີ່ມຖັນ "ຈຳນວນມື້ທີ່ຄ້າງ" = ວັນນີ້ ລົບ ວັນທີແຈ້ງ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    (ສະເພາະເຄລມທີ່ຍັງບໍ່ປິດ)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2) ໝາຍສີແດງ ຖ້າຄ້າງເກີນ 15 ມື້, ສີເຫຼືອງ ຖ້າ 10-15 ມື້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3) ສ້າງຊີດສະຫຼຸບ: ຈຳນວນ ແລະ ຍອດເງິນ ຕາມປະເພດ ແລະ ສະຖານະ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 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ບັນທຶກເປັນ output/claim_register.xlsx</a:t>
            </a:r>
            <a:endParaRPr lang="lo-LA" sz="14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400" dirty="0">
                <a:solidFill>
                  <a:schemeClr val="bg1"/>
                </a:solidFill>
              </a:rPr>
              <a:t>ກວດສອບ: ຜົນລວມຈຳນວນເຄລມໃນຊີດສະຫຼຸບ ຕ້ອງເທົ່າກັບ 100.</a:t>
            </a:r>
            <a:endParaRPr lang="lo-LA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40 ນາທີ · Workshop 2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ຜົນທີ່ຄາດຫວັງ: ສະຫຼຸບຕາມປະເພດເຄລມ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675120" cy="4297680"/>
          </a:xfrm>
          <a:prstGeom prst="roundRect">
            <a:avLst>
              <a:gd name="adj" fmla="val 2553"/>
            </a:avLst>
          </a:prstGeom>
          <a:solidFill>
            <a:schemeClr val="bg1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731520" y="1920240"/>
          <a:ext cx="630936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543800" y="1783080"/>
            <a:ext cx="4099255" cy="1143000"/>
          </a:xfrm>
          <a:prstGeom prst="roundRect">
            <a:avLst>
              <a:gd name="adj" fmla="val 9600"/>
            </a:avLst>
          </a:prstGeom>
          <a:solidFill>
            <a:schemeClr val="bg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18120" y="1892808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3200" b="1" dirty="0">
                <a:solidFill>
                  <a:schemeClr val="tx1"/>
                </a:solidFill>
              </a:rPr>
              <a:t>100</a:t>
            </a:r>
            <a:endParaRPr lang="lo-LA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818120" y="2496312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accent5"/>
                </a:solidFill>
              </a:rPr>
              <a:t>ເຄລມທັງໝົດ: ຕ້ອງກົງກັບໄຟລ໌ຕົ້ນສະບັບ</a:t>
            </a:r>
            <a:endParaRPr lang="lo-LA" sz="1500" dirty="0"/>
          </a:p>
        </p:txBody>
      </p:sp>
      <p:sp>
        <p:nvSpPr>
          <p:cNvPr id="9" name="Shape 6"/>
          <p:cNvSpPr/>
          <p:nvPr/>
        </p:nvSpPr>
        <p:spPr>
          <a:xfrm>
            <a:off x="7543800" y="3063240"/>
            <a:ext cx="4099255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7818120" y="3172968"/>
            <a:ext cx="35506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3200" b="1" dirty="0">
                <a:solidFill>
                  <a:schemeClr val="accent2"/>
                </a:solidFill>
              </a:rPr>
              <a:t>6</a:t>
            </a:r>
            <a:endParaRPr lang="lo-LA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818120" y="3776472"/>
            <a:ext cx="35506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ເຄລມເກີນ SLA (ຄ້າງເກີນ 15 ມື້)</a:t>
            </a:r>
            <a:endParaRPr lang="lo-LA" sz="1500" dirty="0"/>
          </a:p>
        </p:txBody>
      </p:sp>
      <p:sp>
        <p:nvSpPr>
          <p:cNvPr id="12" name="Shape 9"/>
          <p:cNvSpPr/>
          <p:nvPr/>
        </p:nvSpPr>
        <p:spPr>
          <a:xfrm>
            <a:off x="7543800" y="4416552"/>
            <a:ext cx="274320" cy="274320"/>
          </a:xfrm>
          <a:prstGeom prst="rect">
            <a:avLst/>
          </a:prstGeom>
          <a:solidFill>
            <a:srgbClr val="B9402C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7955280" y="434340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ສີແດງ: ຄ້າງເກີນ 15 ມື້</a:t>
            </a:r>
            <a:endParaRPr lang="lo-LA" sz="1500" dirty="0"/>
          </a:p>
        </p:txBody>
      </p:sp>
      <p:sp>
        <p:nvSpPr>
          <p:cNvPr id="14" name="Shape 11"/>
          <p:cNvSpPr/>
          <p:nvPr/>
        </p:nvSpPr>
        <p:spPr>
          <a:xfrm>
            <a:off x="7543800" y="4873752"/>
            <a:ext cx="274320" cy="274320"/>
          </a:xfrm>
          <a:prstGeom prst="rect">
            <a:avLst/>
          </a:prstGeom>
          <a:solidFill>
            <a:srgbClr val="FFD54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7955280" y="4800600"/>
            <a:ext cx="36877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ສີເຫຼືອງ: ຄ້າງ 10-15 ມື້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40 ນາທີ · Workshop 2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ກວດຜົນ Workshop 2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2975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0136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ຜົນລວມຈຳນວນເຄລມ ເທົ່າກັບ 100</a:t>
            </a:r>
            <a:endParaRPr lang="lo-LA" sz="1900" dirty="0"/>
          </a:p>
        </p:txBody>
      </p:sp>
      <p:sp>
        <p:nvSpPr>
          <p:cNvPr id="7" name="Shape 4"/>
          <p:cNvSpPr/>
          <p:nvPr/>
        </p:nvSpPr>
        <p:spPr>
          <a:xfrm>
            <a:off x="1188720" y="254203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79843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7004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ສຸ່ມ 3 ເຄລມ ນັບມື້ຄ້າງດ້ວຍມື ທຽບກັບ Agent</a:t>
            </a:r>
            <a:endParaRPr lang="lo-LA" sz="1900" dirty="0"/>
          </a:p>
        </p:txBody>
      </p:sp>
      <p:sp>
        <p:nvSpPr>
          <p:cNvPr id="11" name="Shape 7"/>
          <p:cNvSpPr/>
          <p:nvPr/>
        </p:nvSpPr>
        <p:spPr>
          <a:xfrm>
            <a:off x="1188720" y="341071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56616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66711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3872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ເຄລມທີ່ "ປິດແລ້ວ" ບໍ່ຖືກນັບມື້ຄ້າງ</a:t>
            </a:r>
            <a:endParaRPr lang="lo-LA" sz="1900" dirty="0"/>
          </a:p>
        </p:txBody>
      </p:sp>
      <p:sp>
        <p:nvSpPr>
          <p:cNvPr id="15" name="Shape 10"/>
          <p:cNvSpPr/>
          <p:nvPr/>
        </p:nvSpPr>
        <p:spPr>
          <a:xfrm>
            <a:off x="1188720" y="427939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53579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40740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ສີແດງ ແລະ ສີເຫຼືອງ ຖືກຕາມກົດ</a:t>
            </a:r>
            <a:endParaRPr lang="lo-LA" sz="1900" dirty="0"/>
          </a:p>
        </p:txBody>
      </p:sp>
      <p:sp>
        <p:nvSpPr>
          <p:cNvPr id="19" name="Shape 13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20" name="Shape 14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ຕົວເລກບໍ່ກົງ?</a:t>
            </a:r>
            <a:endParaRPr lang="lo-LA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ຢ່າແກ້ໃນ Excel ເອງ.</a:t>
            </a:r>
            <a:endParaRPr lang="lo-LA" sz="1600" dirty="0"/>
          </a:p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ບອກ Agent ວ່າຜິດຢູ່ໃສ ແລະ ໃຫ້ມັນອະທິບາຍວິທີຄິດ.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40 ນາທີ · Workshop 3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Workshop 3: ຈົດໝາຍເຄລມ ຈາກແມ່ແບບດຽວ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1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735" y="2193463"/>
            <a:ext cx="294803" cy="29480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04672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ແມ່ແບບ</a:t>
            </a:r>
            <a:endParaRPr lang="lo-LA" sz="2100" dirty="0"/>
          </a:p>
        </p:txBody>
      </p:sp>
      <p:sp>
        <p:nvSpPr>
          <p:cNvPr id="8" name="Text 5"/>
          <p:cNvSpPr txBox="1"/>
          <p:nvPr/>
        </p:nvSpPr>
        <p:spPr>
          <a:xfrm>
            <a:off x="804672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ຈົດໝາຍ Word ທີ່ມີຊ່ອງ {ຊື່}, {ເລກເຄລມ}, {ເອກະສານທີ່ຂາດ}</a:t>
            </a:r>
            <a:endParaRPr lang="lo-LA" sz="1700" dirty="0"/>
          </a:p>
        </p:txBody>
      </p:sp>
      <p:sp>
        <p:nvSpPr>
          <p:cNvPr id="9" name="Shape 6"/>
          <p:cNvSpPr/>
          <p:nvPr/>
        </p:nvSpPr>
        <p:spPr>
          <a:xfrm rot="5400000">
            <a:off x="3162224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0" name="Shape 7"/>
          <p:cNvSpPr/>
          <p:nvPr/>
        </p:nvSpPr>
        <p:spPr>
          <a:xfrm>
            <a:off x="3399968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1"/>
          </a:solidFill>
          <a:ln/>
        </p:spPr>
      </p:sp>
      <p:sp>
        <p:nvSpPr>
          <p:cNvPr id="11" name="Shape 8"/>
          <p:cNvSpPr/>
          <p:nvPr/>
        </p:nvSpPr>
        <p:spPr>
          <a:xfrm>
            <a:off x="3656000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2063" y="2193463"/>
            <a:ext cx="294803" cy="29480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656000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ຕາຕະລາງເຄລມ</a:t>
            </a:r>
            <a:endParaRPr lang="lo-LA" sz="2100" dirty="0"/>
          </a:p>
        </p:txBody>
      </p:sp>
      <p:sp>
        <p:nvSpPr>
          <p:cNvPr id="14" name="Text 10"/>
          <p:cNvSpPr txBox="1"/>
          <p:nvPr/>
        </p:nvSpPr>
        <p:spPr>
          <a:xfrm>
            <a:off x="3656000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ທະບຽນເຄລມ ຈາກ Workshop 2</a:t>
            </a:r>
            <a:endParaRPr lang="lo-LA" sz="1700" dirty="0"/>
          </a:p>
        </p:txBody>
      </p:sp>
      <p:sp>
        <p:nvSpPr>
          <p:cNvPr id="15" name="Shape 11"/>
          <p:cNvSpPr/>
          <p:nvPr/>
        </p:nvSpPr>
        <p:spPr>
          <a:xfrm rot="5400000">
            <a:off x="6013552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16" name="Shape 12"/>
          <p:cNvSpPr/>
          <p:nvPr/>
        </p:nvSpPr>
        <p:spPr>
          <a:xfrm>
            <a:off x="6251296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1"/>
          </a:solidFill>
          <a:ln/>
        </p:spPr>
      </p:sp>
      <p:sp>
        <p:nvSpPr>
          <p:cNvPr id="17" name="Shape 13"/>
          <p:cNvSpPr/>
          <p:nvPr/>
        </p:nvSpPr>
        <p:spPr>
          <a:xfrm>
            <a:off x="6507328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3390" y="219346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507328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Agent ເຕີມຂໍ້ມູນ</a:t>
            </a:r>
            <a:endParaRPr lang="lo-LA" sz="2100" dirty="0"/>
          </a:p>
        </p:txBody>
      </p:sp>
      <p:sp>
        <p:nvSpPr>
          <p:cNvPr id="20" name="Text 15"/>
          <p:cNvSpPr txBox="1"/>
          <p:nvPr/>
        </p:nvSpPr>
        <p:spPr>
          <a:xfrm>
            <a:off x="6507328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ເຕີມຂໍ້ມູນແຕ່ລະເຄລມ ລົງແມ່ແບບ</a:t>
            </a:r>
            <a:endParaRPr lang="lo-LA" sz="1700" dirty="0"/>
          </a:p>
        </p:txBody>
      </p:sp>
      <p:sp>
        <p:nvSpPr>
          <p:cNvPr id="21" name="Shape 16"/>
          <p:cNvSpPr/>
          <p:nvPr/>
        </p:nvSpPr>
        <p:spPr>
          <a:xfrm rot="5400000">
            <a:off x="8864879" y="2221992"/>
            <a:ext cx="164592" cy="237744"/>
          </a:xfrm>
          <a:prstGeom prst="triangle">
            <a:avLst/>
          </a:prstGeom>
          <a:solidFill>
            <a:schemeClr val="accent5"/>
          </a:solidFill>
          <a:ln/>
        </p:spPr>
      </p:sp>
      <p:sp>
        <p:nvSpPr>
          <p:cNvPr id="22" name="Shape 17"/>
          <p:cNvSpPr/>
          <p:nvPr/>
        </p:nvSpPr>
        <p:spPr>
          <a:xfrm>
            <a:off x="9102623" y="1783080"/>
            <a:ext cx="2540432" cy="3520440"/>
          </a:xfrm>
          <a:prstGeom prst="roundRect">
            <a:avLst>
              <a:gd name="adj" fmla="val 4319"/>
            </a:avLst>
          </a:prstGeom>
          <a:solidFill>
            <a:schemeClr val="bg1"/>
          </a:solidFill>
          <a:ln/>
        </p:spPr>
      </p:sp>
      <p:sp>
        <p:nvSpPr>
          <p:cNvPr id="23" name="Shape 18"/>
          <p:cNvSpPr/>
          <p:nvPr/>
        </p:nvSpPr>
        <p:spPr>
          <a:xfrm>
            <a:off x="9358655" y="2057400"/>
            <a:ext cx="566928" cy="56692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4718" y="2193463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9358655" y="2834640"/>
            <a:ext cx="20832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100" b="1" dirty="0">
                <a:solidFill>
                  <a:schemeClr val="tx1"/>
                </a:solidFill>
              </a:rPr>
              <a:t>ຈົດໝາຍ N ສະບັບ</a:t>
            </a:r>
            <a:endParaRPr lang="lo-LA" sz="2100" dirty="0"/>
          </a:p>
        </p:txBody>
      </p:sp>
      <p:sp>
        <p:nvSpPr>
          <p:cNvPr id="26" name="Text 20"/>
          <p:cNvSpPr txBox="1"/>
          <p:nvPr/>
        </p:nvSpPr>
        <p:spPr>
          <a:xfrm>
            <a:off x="9358655" y="3520440"/>
            <a:ext cx="2083232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700" dirty="0">
                <a:solidFill>
                  <a:schemeClr val="accent5"/>
                </a:solidFill>
              </a:rPr>
              <a:t>PDF ແຍກໄຟລ໌ ຕັ້ງຊື່ຕາມເລກເຄລມ</a:t>
            </a:r>
            <a:endParaRPr lang="lo-LA" sz="1700" dirty="0"/>
          </a:p>
        </p:txBody>
      </p:sp>
      <p:sp>
        <p:nvSpPr>
          <p:cNvPr id="27" name="Shape 21"/>
          <p:cNvSpPr/>
          <p:nvPr/>
        </p:nvSpPr>
        <p:spPr>
          <a:xfrm>
            <a:off x="548640" y="566928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812" y="5761452"/>
            <a:ext cx="199705" cy="19970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097280" y="566928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ແມ່ແບບ 3 ແບບ: ຂໍເອກະສານເພີ່ມ · ແຈ້ງອະນຸມັດ · ແຈ້ງປະຕິເສດພ້ອມເຫດຜົນ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40 ນາທີ · Workshop 3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ຄຳສັ່ງ Workshop 3</a:t>
            </a:r>
            <a:endParaRPr lang="lo-LA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ຂັ້ນຕອນ</a:t>
            </a:r>
            <a:endParaRPr lang="lo-LA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1</a:t>
            </a:r>
            <a:endParaRPr lang="lo-LA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115568" y="2267712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ກວດວ່າມີ output/claim_register.xlsx</a:t>
            </a:r>
            <a:endParaRPr lang="lo-LA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035808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358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2</a:t>
            </a:r>
            <a:endParaRPr lang="lo-LA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115568" y="3017520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ວາງຄຳສັ່ງ ແລະ ອ່ານແຜນງານ</a:t>
            </a:r>
            <a:endParaRPr lang="lo-LA" sz="1600" dirty="0"/>
          </a:p>
        </p:txBody>
      </p:sp>
      <p:sp>
        <p:nvSpPr>
          <p:cNvPr id="11" name="Shape 9"/>
          <p:cNvSpPr/>
          <p:nvPr/>
        </p:nvSpPr>
        <p:spPr>
          <a:xfrm>
            <a:off x="548640" y="3785616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785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3</a:t>
            </a:r>
            <a:endParaRPr lang="lo-LA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15568" y="3767328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ເປີດກວດຈົດໝາຍ 1 ສະບັບ</a:t>
            </a:r>
            <a:endParaRPr lang="lo-LA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4535424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535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lo-LA" altLang="en-US" sz="1400" b="1" dirty="0">
                <a:solidFill>
                  <a:schemeClr val="bg1"/>
                </a:solidFill>
              </a:rPr>
              <a:t>4</a:t>
            </a:r>
            <a:endParaRPr lang="lo-LA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15568" y="4517136"/>
            <a:ext cx="34107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600" dirty="0">
                <a:solidFill>
                  <a:schemeClr val="tx1"/>
                </a:solidFill>
              </a:rPr>
              <a:t>ສັ່ງແກ້ ແລ້ວສ້າງໃໝ່ທັງໝົດ</a:t>
            </a:r>
            <a:endParaRPr lang="lo-LA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5201" y="5354361"/>
            <a:ext cx="209215" cy="209215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115568" y="5212080"/>
            <a:ext cx="3410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accent5"/>
                </a:solidFill>
              </a:rPr>
              <a:t>ລອງສ້າງຈົດໝາຍແຈ້ງອະນຸມັດ ດ້ວຍແມ່ແບບທີ 2</a:t>
            </a:r>
            <a:endParaRPr lang="lo-LA" sz="1400" dirty="0"/>
          </a:p>
        </p:txBody>
      </p:sp>
      <p:sp>
        <p:nvSpPr>
          <p:cNvPr id="20" name="Shape 17"/>
          <p:cNvSpPr/>
          <p:nvPr/>
        </p:nvSpPr>
        <p:spPr>
          <a:xfrm>
            <a:off x="4892040" y="1783080"/>
            <a:ext cx="6751015" cy="4297680"/>
          </a:xfrm>
          <a:prstGeom prst="roundRect">
            <a:avLst>
              <a:gd name="adj" fmla="val 2553"/>
            </a:avLst>
          </a:prstGeom>
          <a:solidFill>
            <a:schemeClr val="tx1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5257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spc="300" kern="0" dirty="0">
                <a:solidFill>
                  <a:schemeClr val="accent2"/>
                </a:solidFill>
              </a:rPr>
              <a:t>PROMPT</a:t>
            </a:r>
            <a:endParaRPr lang="lo-LA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257800" y="2514600"/>
            <a:ext cx="6019495" cy="3337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ໃຊ້ແມ່ແບບ templates/ຂໍເອກະສານເພີ່ມ.docx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ແລະ ຂໍ້ມູນໃນ output/claim_register.xlsx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ສ້າງຈົດໝາຍໃຫ້ທຸກເຄລມທີ່ສະຖານະເປັນ "ລໍຖ້າເອກະສານ".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ແທນຊື່ຜູ້ເອົາປະກັນ, ເລກເຄລມ, ວັນທີ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ແລະ ລາຍການເອກະສານທີ່ຂາດ ລົງໃນແມ່ແບບ.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ບັນທຶກແຕ່ລະສະບັບເປັນ PDF ໃນ output/letters/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ຕັ້ງຊື່ໄຟລ໌ຕາມເລກເຄລມ.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 </a:t>
            </a:r>
            <a:endParaRPr lang="lo-LA" sz="1500" dirty="0"/>
          </a:p>
          <a:p>
            <a:pPr indent="0" marL="0">
              <a:lnSpc>
                <a:spcPct val="105000"/>
              </a:lnSpc>
              <a:buNone/>
            </a:pPr>
            <a:r>
              <a:rPr lang="lo-LA" altLang="en-US" sz="1500" dirty="0">
                <a:solidFill>
                  <a:schemeClr val="bg1"/>
                </a:solidFill>
              </a:rPr>
              <a:t>ສຸດທ້າຍ ສະແດງລາຍຊື່ໄຟລ໌ ແລະ ເປີດ 1 ສະບັບໃຫ້ຂ້ອຍກວດກ່ອນ.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40 ນາທີ · Workshop 3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ກວດກ່ອນສົ່ງຈົດໝາຍ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29750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80136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ເປີດກວດຢ່າງໜ້ອຍ 2 ສະບັບ</a:t>
            </a:r>
            <a:endParaRPr lang="lo-LA" sz="1900" dirty="0"/>
          </a:p>
        </p:txBody>
      </p:sp>
      <p:sp>
        <p:nvSpPr>
          <p:cNvPr id="7" name="Shape 4"/>
          <p:cNvSpPr/>
          <p:nvPr/>
        </p:nvSpPr>
        <p:spPr>
          <a:xfrm>
            <a:off x="1188720" y="254203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69748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798430"/>
            <a:ext cx="218724" cy="2187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88720" y="267004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ຊື່, ເລກເຄລມ ແລະ ລາຍການເອກະສານ ຖືກຕ້ອງ</a:t>
            </a:r>
            <a:endParaRPr lang="lo-LA" sz="1900" dirty="0"/>
          </a:p>
        </p:txBody>
      </p:sp>
      <p:sp>
        <p:nvSpPr>
          <p:cNvPr id="11" name="Shape 7"/>
          <p:cNvSpPr/>
          <p:nvPr/>
        </p:nvSpPr>
        <p:spPr>
          <a:xfrm>
            <a:off x="1188720" y="341071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56616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667110"/>
            <a:ext cx="218724" cy="21872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188720" y="353872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ພາສາສຸພາບ ແລະ ຕາມແບບຂອງອົງກອນ</a:t>
            </a:r>
            <a:endParaRPr lang="lo-LA" sz="1900" dirty="0"/>
          </a:p>
        </p:txBody>
      </p:sp>
      <p:sp>
        <p:nvSpPr>
          <p:cNvPr id="15" name="Shape 10"/>
          <p:cNvSpPr/>
          <p:nvPr/>
        </p:nvSpPr>
        <p:spPr>
          <a:xfrm>
            <a:off x="1188720" y="4279392"/>
            <a:ext cx="6080760" cy="0"/>
          </a:xfrm>
          <a:prstGeom prst="line">
            <a:avLst/>
          </a:prstGeom>
          <a:noFill/>
          <a:ln w="9525">
            <a:solidFill>
              <a:srgbClr val="D2DDDB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443484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535790"/>
            <a:ext cx="218724" cy="2187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188720" y="4407408"/>
            <a:ext cx="6080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dirty="0">
                <a:solidFill>
                  <a:schemeClr val="tx1"/>
                </a:solidFill>
              </a:rPr>
              <a:t>ຈຳນວນຈົດໝາຍ ເທົ່າກັບຈຳນວນເຄລມທີ່ລໍຖ້າເອກະສານ</a:t>
            </a:r>
            <a:endParaRPr lang="lo-LA" sz="1900" dirty="0"/>
          </a:p>
        </p:txBody>
      </p:sp>
      <p:sp>
        <p:nvSpPr>
          <p:cNvPr id="19" name="Shape 13"/>
          <p:cNvSpPr/>
          <p:nvPr/>
        </p:nvSpPr>
        <p:spPr>
          <a:xfrm>
            <a:off x="7680960" y="1783080"/>
            <a:ext cx="3962095" cy="4297680"/>
          </a:xfrm>
          <a:prstGeom prst="roundRect">
            <a:avLst>
              <a:gd name="adj" fmla="val 2769"/>
            </a:avLst>
          </a:prstGeom>
          <a:solidFill>
            <a:schemeClr val="tx1"/>
          </a:solidFill>
          <a:ln/>
        </p:spPr>
      </p:sp>
      <p:sp>
        <p:nvSpPr>
          <p:cNvPr id="20" name="Shape 14"/>
          <p:cNvSpPr/>
          <p:nvPr/>
        </p:nvSpPr>
        <p:spPr>
          <a:xfrm>
            <a:off x="8001000" y="2103120"/>
            <a:ext cx="502920" cy="502920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1701" y="2223821"/>
            <a:ext cx="261518" cy="26151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8001000" y="2788920"/>
            <a:ext cx="3322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900" b="1" dirty="0">
                <a:solidFill>
                  <a:schemeClr val="accent2"/>
                </a:solidFill>
              </a:rPr>
              <a:t>ກົດເຫຼັກ</a:t>
            </a:r>
            <a:endParaRPr lang="lo-LA" sz="1900" dirty="0"/>
          </a:p>
        </p:txBody>
      </p:sp>
      <p:sp>
        <p:nvSpPr>
          <p:cNvPr id="23" name="Text 16"/>
          <p:cNvSpPr txBox="1"/>
          <p:nvPr/>
        </p:nvSpPr>
        <p:spPr>
          <a:xfrm>
            <a:off x="8001000" y="3337560"/>
            <a:ext cx="332201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Agent ຮ່າງ, ທ່ານສົ່ງ.</a:t>
            </a:r>
            <a:endParaRPr lang="lo-LA" sz="1600" dirty="0"/>
          </a:p>
          <a:p>
            <a:pPr indent="0" marL="0">
              <a:spcAft>
                <a:spcPts val="1000"/>
              </a:spcAft>
              <a:buNone/>
            </a:pPr>
            <a:r>
              <a:rPr lang="lo-LA" altLang="en-US" sz="1600" dirty="0">
                <a:solidFill>
                  <a:schemeClr val="bg1"/>
                </a:solidFill>
              </a:rPr>
              <a:t>ຢ່າໃຫ້ Agent ສົ່ງອີເມວ ຫຼື ຂໍ້ຄວາມຫາລູກຄ້າເອງ.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20 ນາທີ · ຄວາມປອດໄພ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ປິດບັງຂໍ້ມູນສ່ວນຕົວ ກ່ອນໃຊ້ຂໍ້ມູນຈິງ</a:t>
            </a:r>
            <a:endParaRPr lang="lo-LA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83080"/>
          <a:ext cx="11094415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840480"/>
                <a:gridCol w="4327855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ຂໍ້ມູນ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ກ່ອນ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bg1"/>
                          </a:solidFill>
                        </a:rPr>
                        <a:t>ຫຼັງປິດບັງ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ຊື່ຜູ້ເອົາປະກັນ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ນາງ ສົມມຸດ ຕົວຢ່າງ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ລູກຄ້າ_017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ເບີໂທ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020 5555 1234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020 XXXX 1234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ເລກບັດປະຈຳຕົວ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0123456789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XXXXXX6789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ເລກສັນຍາ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POL-MTR-2026-00881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POL-XXXX-0881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b="1" dirty="0">
                          <a:solidFill>
                            <a:schemeClr val="tx1"/>
                          </a:solidFill>
                        </a:rPr>
                        <a:t>ຍອດເຄລມ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8,450,000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lo-LA" altLang="en-US" sz="1500" dirty="0">
                          <a:solidFill>
                            <a:schemeClr val="tx1"/>
                          </a:solidFill>
                        </a:rPr>
                        <a:t>ເກັບໄວ້ ເພາະຕ້ອງໃຊ້ຄິດໄລ່</a:t>
                      </a:r>
                      <a:endParaRPr lang="lo-LA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2DD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120640"/>
            <a:ext cx="384048" cy="384048"/>
          </a:xfrm>
          <a:prstGeom prst="ellipse">
            <a:avLst/>
          </a:prstGeom>
          <a:solidFill>
            <a:srgbClr val="E3EBF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812" y="5212812"/>
            <a:ext cx="199705" cy="199705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097280" y="5120640"/>
            <a:ext cx="1054577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500" dirty="0">
                <a:solidFill>
                  <a:schemeClr val="tx1"/>
                </a:solidFill>
              </a:rPr>
              <a:t>ເກັບຕາຕະລາງຈັບຄູ່ (ລູກຄ້າ_017 = ຊື່ຈິງ) ໄວ້ໃນເຄື່ອງຂອງທ່ານເທົ່ານັ້ນ</a:t>
            </a:r>
            <a:endParaRPr lang="lo-LA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ມື້ທີ 2 · 20 ນາທີ · ຄວາມປອດໄພ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AI ກະກຽມວຽກ, ຄົນເປັນຜູ້ຕັດສິນ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ຂໍ້ມູນສົມມຸດ ຫຼື ປິດບັງແລ້ວ</a:t>
            </a:r>
            <a:endParaRPr lang="lo-L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ຝຶກດ້ວຍຂໍ້ມູນສົມມຸດ. ໃຊ້ຂໍ້ມູນຈິງ ເມື່ອປິດບັງ ແລະ ໄດ້ຮັບອະນຸຍາດແລ້ວ</a:t>
            </a:r>
            <a:endParaRPr lang="lo-LA" sz="18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547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ກວດທຸກຄັ້ງກ່ອນໃຊ້</a:t>
            </a:r>
            <a:endParaRPr lang="lo-LA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ອ່ານ Artifacts ແລະ ກວດຕົວເລກແບບສຸ່ມ ທຸກຄັ້ງ</a:t>
            </a:r>
            <a:endParaRPr lang="lo-LA" sz="1800" dirty="0"/>
          </a:p>
        </p:txBody>
      </p:sp>
      <p:sp>
        <p:nvSpPr>
          <p:cNvPr id="14" name="Shape 10"/>
          <p:cNvSpPr/>
          <p:nvPr/>
        </p:nvSpPr>
        <p:spPr>
          <a:xfrm>
            <a:off x="8127797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tx1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057400"/>
            <a:ext cx="658368" cy="658368"/>
          </a:xfrm>
          <a:prstGeom prst="ellipse">
            <a:avLst/>
          </a:prstGeom>
          <a:solidFill>
            <a:srgbClr val="FFD54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125" y="221540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accent2"/>
                </a:solidFill>
              </a:rPr>
              <a:t>ຄົນອະນຸມັດເຄລມ</a:t>
            </a:r>
            <a:endParaRPr lang="lo-LA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bg1"/>
                </a:solidFill>
              </a:rPr>
              <a:t>AI ຈັດເອກະສານ ແລະ ຄິດໄລ່. ການອະນຸມັດ ຫຼື ປະຕິເສດ ເປັນໜ້າທີ່ຂອງຄົນ</a:t>
            </a:r>
            <a:endParaRPr lang="lo-L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ສະຫຼຸບຫຼັກສູດ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ສະຫຼຸບ 2 ມື້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920606"/>
            <a:ext cx="218724" cy="21872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78308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ສັ່ງງານ Agent ດ້ວຍສູດ 5 ຂໍ້</a:t>
            </a:r>
            <a:endParaRPr lang="lo-LA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2569464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670414"/>
            <a:ext cx="218724" cy="218724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2532888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ໃຊ້ Planning ແລະ ອ່ານ Artifacts</a:t>
            </a:r>
            <a:endParaRPr lang="lo-LA" sz="1800" dirty="0"/>
          </a:p>
        </p:txBody>
      </p:sp>
      <p:sp>
        <p:nvSpPr>
          <p:cNvPr id="10" name="Shape 6"/>
          <p:cNvSpPr/>
          <p:nvPr/>
        </p:nvSpPr>
        <p:spPr>
          <a:xfrm>
            <a:off x="548640" y="3319272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420222"/>
            <a:ext cx="218724" cy="21872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88720" y="3282696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ແຍກ data/ ແລະ output/</a:t>
            </a:r>
            <a:endParaRPr lang="lo-LA" sz="1800" dirty="0"/>
          </a:p>
        </p:txBody>
      </p:sp>
      <p:sp>
        <p:nvSpPr>
          <p:cNvPr id="13" name="Shape 8"/>
          <p:cNvSpPr/>
          <p:nvPr/>
        </p:nvSpPr>
        <p:spPr>
          <a:xfrm>
            <a:off x="548640" y="4069080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4170030"/>
            <a:ext cx="218724" cy="218724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188720" y="4032504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ກວດຜົນດ້ວຍຕົວເລກທີ່ຮູ້ຄຳຕອບ</a:t>
            </a:r>
            <a:endParaRPr lang="lo-LA" sz="1800" dirty="0"/>
          </a:p>
        </p:txBody>
      </p:sp>
      <p:sp>
        <p:nvSpPr>
          <p:cNvPr id="16" name="Shape 10"/>
          <p:cNvSpPr/>
          <p:nvPr/>
        </p:nvSpPr>
        <p:spPr>
          <a:xfrm>
            <a:off x="548640" y="4818888"/>
            <a:ext cx="420624" cy="420624"/>
          </a:xfrm>
          <a:prstGeom prst="ellipse">
            <a:avLst/>
          </a:prstGeom>
          <a:solidFill>
            <a:srgbClr val="137A55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590" y="4919838"/>
            <a:ext cx="218724" cy="218724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188720" y="4782312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ປິດບັງຂໍ້ມູນສ່ວນຕົວ</a:t>
            </a:r>
            <a:endParaRPr lang="lo-LA" sz="1800" dirty="0"/>
          </a:p>
        </p:txBody>
      </p:sp>
      <p:sp>
        <p:nvSpPr>
          <p:cNvPr id="19" name="Text 12"/>
          <p:cNvSpPr txBox="1"/>
          <p:nvPr/>
        </p:nvSpPr>
        <p:spPr>
          <a:xfrm>
            <a:off x="6675120" y="1783080"/>
            <a:ext cx="49679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ຜົນງານຂອງທ່ານ</a:t>
            </a:r>
            <a:endParaRPr lang="lo-LA" sz="1400" dirty="0"/>
          </a:p>
        </p:txBody>
      </p:sp>
      <p:sp>
        <p:nvSpPr>
          <p:cNvPr id="20" name="Shape 13"/>
          <p:cNvSpPr/>
          <p:nvPr/>
        </p:nvSpPr>
        <p:spPr>
          <a:xfrm>
            <a:off x="6675120" y="2286000"/>
            <a:ext cx="496793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1" name="Shape 14"/>
          <p:cNvSpPr/>
          <p:nvPr/>
        </p:nvSpPr>
        <p:spPr>
          <a:xfrm>
            <a:off x="6858000" y="24231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67728" y="2532888"/>
            <a:ext cx="237744" cy="237744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7498080" y="2286000"/>
            <a:ext cx="3962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ລາຍງານສະຫຼຸບ 5 ສາຂາ</a:t>
            </a:r>
            <a:endParaRPr lang="lo-LA" sz="1600" dirty="0"/>
          </a:p>
        </p:txBody>
      </p:sp>
      <p:sp>
        <p:nvSpPr>
          <p:cNvPr id="24" name="Shape 16"/>
          <p:cNvSpPr/>
          <p:nvPr/>
        </p:nvSpPr>
        <p:spPr>
          <a:xfrm>
            <a:off x="6675120" y="3154680"/>
            <a:ext cx="496793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5" name="Shape 17"/>
          <p:cNvSpPr/>
          <p:nvPr/>
        </p:nvSpPr>
        <p:spPr>
          <a:xfrm>
            <a:off x="6858000" y="32918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67728" y="3401568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 txBox="1"/>
          <p:nvPr/>
        </p:nvSpPr>
        <p:spPr>
          <a:xfrm>
            <a:off x="7498080" y="3154680"/>
            <a:ext cx="3962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ທະບຽນຕິດຕາມເຄລມ</a:t>
            </a:r>
            <a:endParaRPr lang="lo-LA" sz="1600" dirty="0"/>
          </a:p>
        </p:txBody>
      </p:sp>
      <p:sp>
        <p:nvSpPr>
          <p:cNvPr id="28" name="Shape 19"/>
          <p:cNvSpPr/>
          <p:nvPr/>
        </p:nvSpPr>
        <p:spPr>
          <a:xfrm>
            <a:off x="6675120" y="4023360"/>
            <a:ext cx="4967935" cy="731520"/>
          </a:xfrm>
          <a:prstGeom prst="roundRect">
            <a:avLst>
              <a:gd name="adj" fmla="val 15000"/>
            </a:avLst>
          </a:prstGeom>
          <a:solidFill>
            <a:schemeClr val="bg2"/>
          </a:solidFill>
          <a:ln/>
        </p:spPr>
      </p:sp>
      <p:sp>
        <p:nvSpPr>
          <p:cNvPr id="29" name="Shape 20"/>
          <p:cNvSpPr/>
          <p:nvPr/>
        </p:nvSpPr>
        <p:spPr>
          <a:xfrm>
            <a:off x="6858000" y="41605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67728" y="4270248"/>
            <a:ext cx="237744" cy="237744"/>
          </a:xfrm>
          <a:prstGeom prst="rect">
            <a:avLst/>
          </a:prstGeom>
        </p:spPr>
      </p:pic>
      <p:sp>
        <p:nvSpPr>
          <p:cNvPr id="31" name="Text 21"/>
          <p:cNvSpPr txBox="1"/>
          <p:nvPr/>
        </p:nvSpPr>
        <p:spPr>
          <a:xfrm>
            <a:off x="7498080" y="4023360"/>
            <a:ext cx="396209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lo-LA" altLang="en-US" sz="1600" b="1" dirty="0">
                <a:solidFill>
                  <a:schemeClr val="tx1"/>
                </a:solidFill>
              </a:rPr>
              <a:t>ຊຸດຈົດໝາຍເຄລມ</a:t>
            </a:r>
            <a:endParaRPr lang="lo-LA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932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accent1"/>
                </a:solidFill>
              </a:rPr>
              <a:t>ຂັ້ນຕໍ່ໄປ</a:t>
            </a:r>
            <a:endParaRPr lang="lo-LA" sz="14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77240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3000" b="1" dirty="0">
                <a:solidFill>
                  <a:schemeClr val="tx1"/>
                </a:solidFill>
              </a:rPr>
              <a:t>ຫຼັງຈາກມື້ນີ້</a:t>
            </a:r>
            <a:endParaRPr lang="lo-LA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0968" y="2215408"/>
            <a:ext cx="342351" cy="34235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ຝຶກ 7 ວັນ</a:t>
            </a:r>
            <a:endParaRPr lang="lo-LA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ມື້ລະ 1 ວຽກຈິງ ທີ່ຂໍ້ມູນບໍ່ລັບ. ຈົດເວລາທີ່ປະຫຍັດໄດ້</a:t>
            </a:r>
            <a:endParaRPr lang="lo-LA" sz="1800" dirty="0"/>
          </a:p>
        </p:txBody>
      </p:sp>
      <p:sp>
        <p:nvSpPr>
          <p:cNvPr id="9" name="Shape 6"/>
          <p:cNvSpPr/>
          <p:nvPr/>
        </p:nvSpPr>
        <p:spPr>
          <a:xfrm>
            <a:off x="4338218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bg2"/>
          </a:solidFill>
          <a:ln/>
        </p:spPr>
      </p:sp>
      <p:sp>
        <p:nvSpPr>
          <p:cNvPr id="10" name="Shape 7"/>
          <p:cNvSpPr/>
          <p:nvPr/>
        </p:nvSpPr>
        <p:spPr>
          <a:xfrm>
            <a:off x="4612538" y="205740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0547" y="2215408"/>
            <a:ext cx="342351" cy="342351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612538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tx1"/>
                </a:solidFill>
              </a:rPr>
              <a:t>ກຸ່ມຖາມ-ຕອບ 30 ມື້</a:t>
            </a:r>
            <a:endParaRPr lang="lo-LA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612538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ສົ່ງຄຳຖາມ ແລະ ພາບໜ້າຈໍ ໃນກຸ່ມຮຽນ</a:t>
            </a:r>
            <a:endParaRPr lang="lo-LA" sz="1800" dirty="0"/>
          </a:p>
        </p:txBody>
      </p:sp>
      <p:sp>
        <p:nvSpPr>
          <p:cNvPr id="14" name="Shape 10"/>
          <p:cNvSpPr/>
          <p:nvPr/>
        </p:nvSpPr>
        <p:spPr>
          <a:xfrm>
            <a:off x="8127797" y="1783080"/>
            <a:ext cx="3515258" cy="3474720"/>
          </a:xfrm>
          <a:prstGeom prst="roundRect">
            <a:avLst>
              <a:gd name="adj" fmla="val 3158"/>
            </a:avLst>
          </a:prstGeom>
          <a:solidFill>
            <a:schemeClr val="accent6"/>
          </a:solidFill>
          <a:ln/>
        </p:spPr>
      </p:sp>
      <p:sp>
        <p:nvSpPr>
          <p:cNvPr id="15" name="Shape 11"/>
          <p:cNvSpPr/>
          <p:nvPr/>
        </p:nvSpPr>
        <p:spPr>
          <a:xfrm>
            <a:off x="8402117" y="2057400"/>
            <a:ext cx="658368" cy="658368"/>
          </a:xfrm>
          <a:prstGeom prst="ellipse">
            <a:avLst/>
          </a:prstGeom>
          <a:solidFill>
            <a:srgbClr val="1F55D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0125" y="2215408"/>
            <a:ext cx="342351" cy="342351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402117" y="2926080"/>
            <a:ext cx="29666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b="1" dirty="0">
                <a:solidFill>
                  <a:schemeClr val="accent1"/>
                </a:solidFill>
              </a:rPr>
              <a:t>Antigravity Advanced</a:t>
            </a:r>
            <a:endParaRPr lang="lo-LA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8402117" y="3611880"/>
            <a:ext cx="296661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800" dirty="0">
                <a:solidFill>
                  <a:schemeClr val="tx1"/>
                </a:solidFill>
              </a:rPr>
              <a:t>ສ້າງລະບົບກວດເອກະສານ, ຄິດໄລ່ເຄລມ ແລະ Dashboard</a:t>
            </a:r>
            <a:endParaRPr lang="lo-LA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08792" y="6355080"/>
            <a:ext cx="7315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4C626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55448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500" b="1" spc="100" kern="0" dirty="0">
                <a:solidFill>
                  <a:schemeClr val="bg2"/>
                </a:solidFill>
              </a:rPr>
              <a:t>ຫຼັກສູດ Google Antigravity</a:t>
            </a:r>
            <a:endParaRPr lang="lo-LA" sz="15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210312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lo-LA" altLang="en-US" sz="4600" b="1" dirty="0">
                <a:solidFill>
                  <a:schemeClr val="bg1"/>
                </a:solidFill>
              </a:rPr>
              <a:t>ຂອບໃຈ</a:t>
            </a:r>
            <a:endParaRPr lang="lo-LA" sz="4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548640" y="324612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2200" dirty="0">
                <a:solidFill>
                  <a:schemeClr val="accent2"/>
                </a:solidFill>
              </a:rPr>
              <a:t>ຖາມ-ຕອບ ແລະ ມອບໃບຢັ້ງຢືນ</a:t>
            </a:r>
            <a:endParaRPr lang="lo-LA" sz="22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548640" y="521208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dirty="0">
                <a:solidFill>
                  <a:schemeClr val="bg2"/>
                </a:solidFill>
              </a:rPr>
              <a:t>ກຸ່ມຖາມ-ຕອບ: [ລິ້ງກຸ່ມ] · ໂທ / WhatsApp: [020 XXXX XXXX]</a:t>
            </a:r>
            <a:endParaRPr lang="lo-LA" sz="1400" dirty="0"/>
          </a:p>
        </p:txBody>
      </p:sp>
      <p:sp>
        <p:nvSpPr>
          <p:cNvPr id="6" name="Shape 4"/>
          <p:cNvSpPr/>
          <p:nvPr/>
        </p:nvSpPr>
        <p:spPr>
          <a:xfrm>
            <a:off x="7452360" y="914400"/>
            <a:ext cx="4297680" cy="5029200"/>
          </a:xfrm>
          <a:prstGeom prst="ellipse">
            <a:avLst/>
          </a:prstGeom>
          <a:noFill/>
          <a:ln w="19050">
            <a:solidFill>
              <a:srgbClr val="25474D"/>
            </a:solidFill>
            <a:prstDash val="dash"/>
          </a:ln>
        </p:spPr>
      </p:sp>
      <p:sp>
        <p:nvSpPr>
          <p:cNvPr id="7" name="Shape 5"/>
          <p:cNvSpPr/>
          <p:nvPr/>
        </p:nvSpPr>
        <p:spPr>
          <a:xfrm rot="-240000">
            <a:off x="7589520" y="14173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 rot="-240000">
            <a:off x="7818120" y="15727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ໃບຢັ້ງຢືນ</a:t>
            </a:r>
            <a:endParaRPr lang="lo-LA" sz="1200" dirty="0"/>
          </a:p>
        </p:txBody>
      </p:sp>
      <p:sp>
        <p:nvSpPr>
          <p:cNvPr id="9" name="Text 7"/>
          <p:cNvSpPr txBox="1"/>
          <p:nvPr/>
        </p:nvSpPr>
        <p:spPr>
          <a:xfrm rot="-240000">
            <a:off x="78181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Antigravity Basic</a:t>
            </a:r>
            <a:endParaRPr lang="lo-LA" sz="1400" dirty="0"/>
          </a:p>
        </p:txBody>
      </p:sp>
      <p:sp>
        <p:nvSpPr>
          <p:cNvPr id="10" name="Shape 8"/>
          <p:cNvSpPr/>
          <p:nvPr/>
        </p:nvSpPr>
        <p:spPr>
          <a:xfrm rot="180000">
            <a:off x="8229600" y="27889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bg1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 rot="180000">
            <a:off x="8458200" y="29443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output/</a:t>
            </a:r>
            <a:endParaRPr lang="lo-LA" sz="1200" dirty="0"/>
          </a:p>
        </p:txBody>
      </p:sp>
      <p:sp>
        <p:nvSpPr>
          <p:cNvPr id="12" name="Text 10"/>
          <p:cNvSpPr txBox="1"/>
          <p:nvPr/>
        </p:nvSpPr>
        <p:spPr>
          <a:xfrm rot="180000">
            <a:off x="845820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3 ຜົນງານ ສຳເລັດ</a:t>
            </a:r>
            <a:endParaRPr lang="lo-LA" sz="1400" dirty="0"/>
          </a:p>
        </p:txBody>
      </p:sp>
      <p:sp>
        <p:nvSpPr>
          <p:cNvPr id="13" name="Shape 11"/>
          <p:cNvSpPr/>
          <p:nvPr/>
        </p:nvSpPr>
        <p:spPr>
          <a:xfrm rot="-90000">
            <a:off x="7772400" y="4160520"/>
            <a:ext cx="3566160" cy="1051560"/>
          </a:xfrm>
          <a:prstGeom prst="roundRect">
            <a:avLst>
              <a:gd name="adj" fmla="val 10435"/>
            </a:avLst>
          </a:prstGeom>
          <a:solidFill>
            <a:schemeClr val="accent6"/>
          </a:solidFill>
          <a:ln/>
          <a:effectLst>
            <a:outerShdw sx="100000" sy="100000" kx="0" ky="0" algn="bl" rotWithShape="0" blurRad="127000" dist="25400" dir="5400000">
              <a:srgbClr val="0E2A2F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 rot="-90000">
            <a:off x="8001000" y="4315968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200" b="1" dirty="0">
                <a:solidFill>
                  <a:schemeClr val="accent5"/>
                </a:solidFill>
              </a:rPr>
              <a:t>ກຸ່ມຖາມ-ຕອບ</a:t>
            </a:r>
            <a:endParaRPr lang="lo-LA" sz="1200" dirty="0"/>
          </a:p>
        </p:txBody>
      </p:sp>
      <p:sp>
        <p:nvSpPr>
          <p:cNvPr id="15" name="Text 13"/>
          <p:cNvSpPr txBox="1"/>
          <p:nvPr/>
        </p:nvSpPr>
        <p:spPr>
          <a:xfrm rot="-90000">
            <a:off x="8001000" y="4663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lo-LA" altLang="en-US" sz="1400" b="1" dirty="0">
                <a:solidFill>
                  <a:schemeClr val="tx1"/>
                </a:solidFill>
              </a:rPr>
              <a:t>ເປີດ 30 ມື້</a:t>
            </a:r>
            <a:endParaRPr lang="lo-LA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ntigravity Course">
  <a:themeElements>
    <a:clrScheme name="Antigravity Course">
      <a:dk1>
        <a:srgbClr val="0E2A2F"/>
      </a:dk1>
      <a:lt1>
        <a:srgbClr val="FFFFFF"/>
      </a:lt1>
      <a:dk2>
        <a:srgbClr val="25474D"/>
      </a:dk2>
      <a:lt2>
        <a:srgbClr val="EEF2F1"/>
      </a:lt2>
      <a:accent1>
        <a:srgbClr val="1F55D6"/>
      </a:accent1>
      <a:accent2>
        <a:srgbClr val="FFD54A"/>
      </a:accent2>
      <a:accent3>
        <a:srgbClr val="137A55"/>
      </a:accent3>
      <a:accent4>
        <a:srgbClr val="B9402C"/>
      </a:accent4>
      <a:accent5>
        <a:srgbClr val="4C6265"/>
      </a:accent5>
      <a:accent6>
        <a:srgbClr val="E3EBFC"/>
      </a:accent6>
      <a:hlink>
        <a:srgbClr val="1F55D6"/>
      </a:hlink>
      <a:folHlink>
        <a:srgbClr val="4C6265"/>
      </a:folHlink>
    </a:clrScheme>
    <a:fontScheme name="Antigravity Course">
      <a:majorFont>
        <a:latin typeface="Noto Sans Lao Looped"/>
        <a:ea typeface=""/>
        <a:cs typeface="Noto Sans Lao Looped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Noto Sans Lao Looped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Lao"/>
        <a:ea typeface=""/>
        <a:cs typeface="Noto Sans Lao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Noto Sans Lao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Antigravity Basic</dc:title>
  <dc:subject>PptxGenJS Presentation</dc:subject>
  <dc:creator>Antigravity Workshop</dc:creator>
  <cp:lastModifiedBy>Antigravity Workshop</cp:lastModifiedBy>
  <cp:revision>1</cp:revision>
  <dcterms:created xsi:type="dcterms:W3CDTF">2026-10-05T09:49:03Z</dcterms:created>
  <dcterms:modified xsi:type="dcterms:W3CDTF">2026-10-05T09:49:03Z</dcterms:modified>
</cp:coreProperties>
</file>